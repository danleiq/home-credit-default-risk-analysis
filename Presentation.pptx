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
      <p:font typeface="Montserrat Black"/>
      <p:bold r:id="rId29"/>
      <p:boldItalic r:id="rId30"/>
    </p:embeddedFont>
    <p:embeddedFont>
      <p:font typeface="Roboto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4FD1A5-E3C2-40FB-A460-BEEEB137DB11}">
  <a:tblStyle styleId="{044FD1A5-E3C2-40FB-A460-BEEEB137DB1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Black-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regular.fntdata"/><Relationship Id="rId30" Type="http://schemas.openxmlformats.org/officeDocument/2006/relationships/font" Target="fonts/MontserratBlack-boldItalic.fntdata"/><Relationship Id="rId11" Type="http://schemas.openxmlformats.org/officeDocument/2006/relationships/slide" Target="slides/slide5.xml"/><Relationship Id="rId33" Type="http://schemas.openxmlformats.org/officeDocument/2006/relationships/font" Target="fonts/RobotoMono-italic.fntdata"/><Relationship Id="rId10" Type="http://schemas.openxmlformats.org/officeDocument/2006/relationships/slide" Target="slides/slide4.xml"/><Relationship Id="rId32" Type="http://schemas.openxmlformats.org/officeDocument/2006/relationships/font" Target="fonts/RobotoMono-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RobotoMon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Our project is about the default risk of</a:t>
            </a:r>
            <a:r>
              <a:rPr b="1" lang="en" sz="1400">
                <a:solidFill>
                  <a:srgbClr val="BF9000"/>
                </a:solidFill>
                <a:latin typeface="Avenir"/>
                <a:ea typeface="Avenir"/>
                <a:cs typeface="Avenir"/>
                <a:sym typeface="Avenir"/>
              </a:rPr>
              <a:t> repaying a loan for each applicant.</a:t>
            </a:r>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709fc5ac5d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709fc5ac5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First, let me introduce Home Credit Company, our dataset provider. Home Credit is an international non-bank financial institution and operates in 14 countries and focuses on lending primarily to people with little or no credit history. In order to predict the repayment ability of their customers, Home Credit held a Kaggle competition to see what sort of models the machine learning community can develop to help them in this task.</a:t>
            </a:r>
            <a:endParaRPr sz="1200"/>
          </a:p>
          <a:p>
            <a:pPr indent="0" lvl="0" marL="0" rtl="0" algn="l">
              <a:lnSpc>
                <a:spcPct val="115000"/>
              </a:lnSpc>
              <a:spcBef>
                <a:spcPts val="0"/>
              </a:spcBef>
              <a:spcAft>
                <a:spcPts val="0"/>
              </a:spcAft>
              <a:buNone/>
            </a:pPr>
            <a:r>
              <a:rPr lang="en" sz="1200"/>
              <a:t> </a:t>
            </a:r>
            <a:endParaRPr sz="1200"/>
          </a:p>
          <a:p>
            <a:pPr indent="0" lvl="0" marL="0" rtl="0" algn="l">
              <a:lnSpc>
                <a:spcPct val="115000"/>
              </a:lnSpc>
              <a:spcBef>
                <a:spcPts val="0"/>
              </a:spcBef>
              <a:spcAft>
                <a:spcPts val="0"/>
              </a:spcAft>
              <a:buNone/>
            </a:pPr>
            <a:r>
              <a:rPr lang="en" sz="1200"/>
              <a:t>The objective of this project is to use historical loan application data to predict whether or not an applicant will be able to repay a loan. </a:t>
            </a:r>
            <a:endParaRPr sz="12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t/>
            </a:r>
            <a:endParaRPr sz="1200"/>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75bbe1f981_5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75bbe1f981_5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t>W</a:t>
            </a:r>
            <a:r>
              <a:rPr lang="en" sz="1200"/>
              <a:t>e use the application_train data,which is the information about each loan application at Home Credit. And each row represents a loan application.</a:t>
            </a:r>
            <a:endParaRPr sz="1200"/>
          </a:p>
          <a:p>
            <a:pPr indent="0" lvl="0" marL="0" rtl="0" algn="l">
              <a:lnSpc>
                <a:spcPct val="115000"/>
              </a:lnSpc>
              <a:spcBef>
                <a:spcPts val="0"/>
              </a:spcBef>
              <a:spcAft>
                <a:spcPts val="0"/>
              </a:spcAft>
              <a:buNone/>
            </a:pPr>
            <a:r>
              <a:rPr lang="en" sz="1200"/>
              <a:t>Let’s take a look at the data. The raw data has over 3 hundred thousands observationsand 122 features including the TARGET (the label we want to predict).</a:t>
            </a: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75bbe1f981_5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75bbe1f981_5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The data comes with the TARGET indicating 0: the loan was repaid or 1: the loan was not repaid.</a:t>
            </a:r>
            <a:endParaRPr sz="1200"/>
          </a:p>
          <a:p>
            <a:pPr indent="0" lvl="0" marL="0" rtl="0" algn="l">
              <a:spcBef>
                <a:spcPts val="0"/>
              </a:spcBef>
              <a:spcAft>
                <a:spcPts val="0"/>
              </a:spcAft>
              <a:buNone/>
            </a:pPr>
            <a:r>
              <a:rPr lang="en" sz="1200"/>
              <a:t>And some of the features as shown, we can see some </a:t>
            </a:r>
            <a:r>
              <a:rPr lang="en" sz="1200"/>
              <a:t>categorical</a:t>
            </a:r>
            <a:r>
              <a:rPr lang="en" sz="1200"/>
              <a:t> features such as the gender, </a:t>
            </a:r>
            <a:r>
              <a:rPr lang="en" sz="1200"/>
              <a:t>if the client owns a car or owns a house</a:t>
            </a:r>
            <a:endParaRPr sz="1200"/>
          </a:p>
          <a:p>
            <a:pPr indent="0" lvl="0" marL="0" rtl="0" algn="l">
              <a:spcBef>
                <a:spcPts val="0"/>
              </a:spcBef>
              <a:spcAft>
                <a:spcPts val="0"/>
              </a:spcAft>
              <a:buNone/>
            </a:pPr>
            <a:r>
              <a:rPr lang="en" sz="1200"/>
              <a:t>And some numerical features such as the client’s income, the price of the goods that the loan is given for.</a:t>
            </a:r>
            <a:endParaRPr sz="1200"/>
          </a:p>
          <a:p>
            <a:pPr indent="0" lvl="0" marL="0" rtl="0" algn="l">
              <a:spcBef>
                <a:spcPts val="0"/>
              </a:spcBef>
              <a:spcAft>
                <a:spcPts val="0"/>
              </a:spcAft>
              <a:buNone/>
            </a:pPr>
            <a:r>
              <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75bbe1f981_5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75bbe1f981_5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Then let’s start our </a:t>
            </a:r>
            <a:r>
              <a:rPr lang="en" sz="1200"/>
              <a:t>analysis. This is our procedure.</a:t>
            </a:r>
            <a:endParaRPr sz="1200"/>
          </a:p>
          <a:p>
            <a:pPr indent="0" lvl="0" marL="0" rtl="0" algn="l">
              <a:spcBef>
                <a:spcPts val="0"/>
              </a:spcBef>
              <a:spcAft>
                <a:spcPts val="0"/>
              </a:spcAft>
              <a:buNone/>
            </a:pPr>
            <a:r>
              <a:rPr lang="en" sz="1200"/>
              <a:t>In this project, we will explore several models including Classification Models and Regression Models to predict the TARGET variable and Grid Search with combination of Pipeline for hyperparameter tuning.</a:t>
            </a:r>
            <a:endParaRPr sz="1200"/>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709fc5ac5d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709fc5ac5d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First, W</a:t>
            </a:r>
            <a:r>
              <a:rPr lang="en" sz="1200"/>
              <a:t>e did the data preprocessing. </a:t>
            </a:r>
            <a:r>
              <a:rPr lang="en" sz="1200"/>
              <a:t>We check the missing values in each column.And then we drop the features with over 50% missing values and then drop the rows with missing values of left features.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And we use one-hot encoding method to encode categorical features and target. </a:t>
            </a:r>
            <a:endParaRPr sz="1200"/>
          </a:p>
          <a:p>
            <a:pPr indent="0" lvl="0" marL="0" rtl="0" algn="l">
              <a:spcBef>
                <a:spcPts val="0"/>
              </a:spcBef>
              <a:spcAft>
                <a:spcPts val="0"/>
              </a:spcAft>
              <a:buNone/>
            </a:pPr>
            <a:r>
              <a:rPr lang="en" sz="1200"/>
              <a:t>Then we split our data into training with 80 percent  and testing with 20 percent.</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We get about 60 </a:t>
            </a:r>
            <a:r>
              <a:rPr lang="en" sz="1200"/>
              <a:t>thousand</a:t>
            </a:r>
            <a:r>
              <a:rPr lang="en" sz="1200"/>
              <a:t> target'0' and 5 </a:t>
            </a:r>
            <a:r>
              <a:rPr lang="en" sz="1200"/>
              <a:t>thousand</a:t>
            </a:r>
            <a:r>
              <a:rPr lang="en" sz="1200"/>
              <a:t> target'1'. </a:t>
            </a:r>
            <a:r>
              <a:rPr lang="en" sz="1200"/>
              <a:t>As the bar chart shows, </a:t>
            </a:r>
            <a:r>
              <a:rPr lang="en" sz="1200"/>
              <a:t>the two classes are </a:t>
            </a:r>
            <a:r>
              <a:rPr lang="en" sz="1200"/>
              <a:t>quietly</a:t>
            </a:r>
            <a:r>
              <a:rPr lang="en" sz="1200"/>
              <a:t> imbalanced.</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Since most machine learning algorithms work best when the number of samples in each class are about equal, we need to deal with the imbalanced problem. Here we use over-sampling method.</a:t>
            </a:r>
            <a:endParaRPr sz="12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n" sz="1200"/>
              <a:t>Finally, </a:t>
            </a:r>
            <a:r>
              <a:rPr b="1" lang="en" sz="1200">
                <a:latin typeface="Roboto"/>
                <a:ea typeface="Roboto"/>
                <a:cs typeface="Roboto"/>
                <a:sym typeface="Roboto"/>
              </a:rPr>
              <a:t>The dataset became just over 100 thousands rows  and 187 columns</a:t>
            </a:r>
            <a:endParaRPr sz="1200"/>
          </a:p>
          <a:p>
            <a:pPr indent="0" lvl="0" marL="0" rtl="0" algn="l">
              <a:lnSpc>
                <a:spcPct val="115000"/>
              </a:lnSpc>
              <a:spcBef>
                <a:spcPts val="0"/>
              </a:spcBef>
              <a:spcAft>
                <a:spcPts val="0"/>
              </a:spcAft>
              <a:buNone/>
            </a:pPr>
            <a:r>
              <a:rPr lang="en" sz="1200"/>
              <a:t>And we did standardization in the each pipeline of model. And Hongchun will talk about model training part.</a:t>
            </a:r>
            <a:endParaRPr sz="12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75bbe1f98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75bbe1f98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a:t>For our project, we used six models to do the training, since our target is binary, so we choose these six to use. For each model, we do the four steps to find out the best parameters and to figure out the model is good or not to do prediction.</a:t>
            </a:r>
            <a:endParaRPr/>
          </a:p>
          <a:p>
            <a:pPr indent="0" lvl="0" marL="0" rtl="0" algn="l">
              <a:spcBef>
                <a:spcPts val="14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75d4af6b9d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75d4af6b9d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a:t>In our model, we use f1 score to see how the model performance, but not the accuracy.</a:t>
            </a:r>
            <a:endParaRPr/>
          </a:p>
          <a:p>
            <a:pPr indent="0" lvl="0" marL="0" rtl="0" algn="l">
              <a:lnSpc>
                <a:spcPct val="115000"/>
              </a:lnSpc>
              <a:spcBef>
                <a:spcPts val="1400"/>
              </a:spcBef>
              <a:spcAft>
                <a:spcPts val="0"/>
              </a:spcAft>
              <a:buNone/>
            </a:pPr>
            <a:r>
              <a:rPr lang="en"/>
              <a:t>This is the confusion matrix, and the equation for each score is here.</a:t>
            </a:r>
            <a:endParaRPr/>
          </a:p>
          <a:p>
            <a:pPr indent="0" lvl="0" marL="0" rtl="0" algn="l">
              <a:lnSpc>
                <a:spcPct val="115000"/>
              </a:lnSpc>
              <a:spcBef>
                <a:spcPts val="1400"/>
              </a:spcBef>
              <a:spcAft>
                <a:spcPts val="0"/>
              </a:spcAft>
              <a:buNone/>
            </a:pPr>
            <a:r>
              <a:rPr lang="en"/>
              <a:t>And  accuracy can be a useful measure if we have the same amount of samples per class but if we have an imbalanced set of samples,  accuracy isn't useful at all.</a:t>
            </a:r>
            <a:endParaRPr/>
          </a:p>
          <a:p>
            <a:pPr indent="0" lvl="0" marL="0" rtl="0" algn="l">
              <a:lnSpc>
                <a:spcPct val="115000"/>
              </a:lnSpc>
              <a:spcBef>
                <a:spcPts val="1400"/>
              </a:spcBef>
              <a:spcAft>
                <a:spcPts val="0"/>
              </a:spcAft>
              <a:buNone/>
            </a:pPr>
            <a:r>
              <a:rPr lang="en"/>
              <a:t>About the Precision and Recall, High Precision indicates a large number of False Positives, and high recall indicate  a large number of False Negative, so we use f1 which can conveys the balance between the precision and the recall.</a:t>
            </a:r>
            <a:endParaRPr/>
          </a:p>
          <a:p>
            <a:pPr indent="0" lvl="0" marL="0" rtl="0" algn="l">
              <a:spcBef>
                <a:spcPts val="14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75bbe1f98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75bbe1f98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200">
                <a:highlight>
                  <a:srgbClr val="FFFFFF"/>
                </a:highlight>
                <a:latin typeface="Georgia"/>
                <a:ea typeface="Georgia"/>
                <a:cs typeface="Georgia"/>
                <a:sym typeface="Georgia"/>
              </a:rPr>
              <a:t>Let’s dive into the first model, Logistic regression, we did the tuning for three parameters, and here is the result. After the training, we got f1 score, and after the prediction we got the AUC score. The two scores for logistic regression, they both NOT BAD. The ROC curve can tell us  how much the model is capable of distinguishing between different classes. The range of AUC is between 0 and 1. </a:t>
            </a:r>
            <a:endParaRPr sz="1200">
              <a:highlight>
                <a:srgbClr val="FFFFFF"/>
              </a:highlight>
              <a:latin typeface="Georgia"/>
              <a:ea typeface="Georgia"/>
              <a:cs typeface="Georgia"/>
              <a:sym typeface="Georgia"/>
            </a:endParaRPr>
          </a:p>
          <a:p>
            <a:pPr indent="0" lvl="0" marL="0" rtl="0" algn="l">
              <a:spcBef>
                <a:spcPts val="1400"/>
              </a:spcBef>
              <a:spcAft>
                <a:spcPts val="0"/>
              </a:spcAft>
              <a:buNone/>
            </a:pPr>
            <a:r>
              <a:t/>
            </a:r>
            <a:endParaRPr sz="1200">
              <a:highlight>
                <a:srgbClr val="FFFFFF"/>
              </a:highlight>
              <a:latin typeface="Georgia"/>
              <a:ea typeface="Georgia"/>
              <a:cs typeface="Georgia"/>
              <a:sym typeface="Georgia"/>
            </a:endParaRPr>
          </a:p>
          <a:p>
            <a:pPr indent="0" lvl="0" marL="0" rtl="0" algn="l">
              <a:spcBef>
                <a:spcPts val="0"/>
              </a:spcBef>
              <a:spcAft>
                <a:spcPts val="0"/>
              </a:spcAft>
              <a:buNone/>
            </a:pPr>
            <a:r>
              <a:t/>
            </a:r>
            <a:endParaRPr sz="1200">
              <a:highlight>
                <a:srgbClr val="FFFFFF"/>
              </a:highlight>
              <a:latin typeface="Georgia"/>
              <a:ea typeface="Georgia"/>
              <a:cs typeface="Georgia"/>
              <a:sym typeface="Georgia"/>
            </a:endParaRPr>
          </a:p>
          <a:p>
            <a:pPr indent="0" lvl="0" marL="0" rtl="0" algn="l">
              <a:spcBef>
                <a:spcPts val="0"/>
              </a:spcBef>
              <a:spcAft>
                <a:spcPts val="0"/>
              </a:spcAft>
              <a:buNone/>
            </a:pPr>
            <a:r>
              <a:t/>
            </a:r>
            <a:endParaRPr sz="1200">
              <a:highlight>
                <a:srgbClr val="FFFFFF"/>
              </a:highlight>
              <a:latin typeface="Georgia"/>
              <a:ea typeface="Georgia"/>
              <a:cs typeface="Georgia"/>
              <a:sym typeface="Georgia"/>
            </a:endParaRPr>
          </a:p>
          <a:p>
            <a:pPr indent="0" lvl="0" marL="0" rtl="0" algn="l">
              <a:spcBef>
                <a:spcPts val="0"/>
              </a:spcBef>
              <a:spcAft>
                <a:spcPts val="0"/>
              </a:spcAft>
              <a:buNone/>
            </a:pPr>
            <a:r>
              <a:t/>
            </a:r>
            <a:endParaRPr sz="1200">
              <a:highlight>
                <a:srgbClr val="FFFFFF"/>
              </a:highlight>
              <a:latin typeface="Georgia"/>
              <a:ea typeface="Georgia"/>
              <a:cs typeface="Georgia"/>
              <a:sym typeface="Georgia"/>
            </a:endParaRPr>
          </a:p>
          <a:p>
            <a:pPr indent="0" lvl="0" marL="0" rtl="0" algn="l">
              <a:spcBef>
                <a:spcPts val="0"/>
              </a:spcBef>
              <a:spcAft>
                <a:spcPts val="0"/>
              </a:spcAft>
              <a:buNone/>
            </a:pPr>
            <a:r>
              <a:rPr lang="en" sz="1200">
                <a:highlight>
                  <a:srgbClr val="FFFFFF"/>
                </a:highlight>
                <a:latin typeface="Georgia"/>
                <a:ea typeface="Georgia"/>
                <a:cs typeface="Georgia"/>
                <a:sym typeface="Georgia"/>
              </a:rPr>
              <a:t>**AUC (</a:t>
            </a:r>
            <a:r>
              <a:rPr b="1" lang="en" sz="1200">
                <a:highlight>
                  <a:srgbClr val="FFFFFF"/>
                </a:highlight>
                <a:latin typeface="Georgia"/>
                <a:ea typeface="Georgia"/>
                <a:cs typeface="Georgia"/>
                <a:sym typeface="Georgia"/>
              </a:rPr>
              <a:t>Area Under The Curve</a:t>
            </a:r>
            <a:r>
              <a:rPr lang="en" sz="1200">
                <a:highlight>
                  <a:srgbClr val="FFFFFF"/>
                </a:highlight>
                <a:latin typeface="Georgia"/>
                <a:ea typeface="Georgia"/>
                <a:cs typeface="Georgia"/>
                <a:sym typeface="Georgia"/>
              </a:rPr>
              <a:t>) ROC (</a:t>
            </a:r>
            <a:r>
              <a:rPr b="1" lang="en" sz="1200">
                <a:highlight>
                  <a:srgbClr val="FFFFFF"/>
                </a:highlight>
                <a:latin typeface="Georgia"/>
                <a:ea typeface="Georgia"/>
                <a:cs typeface="Georgia"/>
                <a:sym typeface="Georgia"/>
              </a:rPr>
              <a:t>Receiver Operating Characteristics</a:t>
            </a:r>
            <a:r>
              <a:rPr lang="en" sz="1200">
                <a:highlight>
                  <a:srgbClr val="FFFFFF"/>
                </a:highlight>
                <a:latin typeface="Georgia"/>
                <a:ea typeface="Georgia"/>
                <a:cs typeface="Georgia"/>
                <a:sym typeface="Georgia"/>
              </a:rPr>
              <a:t>) curve.</a:t>
            </a:r>
            <a:endParaRPr sz="1200">
              <a:highlight>
                <a:srgbClr val="FFFFFF"/>
              </a:highlight>
              <a:latin typeface="Georgia"/>
              <a:ea typeface="Georgia"/>
              <a:cs typeface="Georgia"/>
              <a:sym typeface="Georgia"/>
            </a:endParaRPr>
          </a:p>
          <a:p>
            <a:pPr indent="0" lvl="0" marL="0" rtl="0" algn="l">
              <a:spcBef>
                <a:spcPts val="0"/>
              </a:spcBef>
              <a:spcAft>
                <a:spcPts val="0"/>
              </a:spcAft>
              <a:buNone/>
            </a:pPr>
            <a:r>
              <a:rPr lang="en" sz="1200">
                <a:highlight>
                  <a:srgbClr val="FFFFFF"/>
                </a:highlight>
                <a:latin typeface="Georgia"/>
                <a:ea typeface="Georgia"/>
                <a:cs typeface="Georgia"/>
                <a:sym typeface="Georgia"/>
              </a:rPr>
              <a:t>An excellent model has AUC near to the 1 which means it has good measure of separability. A poor model has AUC near to the 0 which means it has worst measure of separability. And when AUC is 0.5, it means model has no class separation capacity whatsoever.	</a:t>
            </a:r>
            <a:endParaRPr sz="1200">
              <a:highlight>
                <a:srgbClr val="FFFFFF"/>
              </a:highlight>
              <a:latin typeface="Georgia"/>
              <a:ea typeface="Georgia"/>
              <a:cs typeface="Georgia"/>
              <a:sym typeface="Georgi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75bbe1f981_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75bbe1f981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a:t>This is the MLP model. Here is the result of the tuning, the hidden layer size is the largest of our setting, it’s about 100 perceptrons. And here we can see a phenomenon. We got the pretty high score of f1, over 90%. but low score of AUC. It means our model might have overfitting.</a:t>
            </a:r>
            <a:endParaRPr/>
          </a:p>
          <a:p>
            <a:pPr indent="0" lvl="0" marL="0" rtl="0" algn="l">
              <a:lnSpc>
                <a:spcPct val="115000"/>
              </a:lnSpc>
              <a:spcBef>
                <a:spcPts val="1400"/>
              </a:spcBef>
              <a:spcAft>
                <a:spcPts val="0"/>
              </a:spcAft>
              <a:buNone/>
            </a:pPr>
            <a:r>
              <a:rPr lang="en"/>
              <a:t>(When AUC is 0.5, it means model has no class separation capacity whatsoever.)</a:t>
            </a:r>
            <a:endParaRPr/>
          </a:p>
          <a:p>
            <a:pPr indent="0" lvl="0" marL="0" rtl="0" algn="l">
              <a:spcBef>
                <a:spcPts val="14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75bbe1f981_5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75bbe1f981_5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a:t>Here is the Decision Tree model, and we tune the Max depth and the minimum samples split. But this model has the same problem with MLP, both got high f1 score and low AUC.</a:t>
            </a:r>
            <a:endParaRPr/>
          </a:p>
          <a:p>
            <a:pPr indent="0" lvl="0" marL="0" rtl="0" algn="l">
              <a:spcBef>
                <a:spcPts val="14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75bbe1f981_5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75bbe1f981_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a:t>And then here is the Random Forest, it got the f1 score about 0.747, and AUC score 0.671, the scores are both not bad.</a:t>
            </a:r>
            <a:endParaRPr/>
          </a:p>
          <a:p>
            <a:pPr indent="0" lvl="0" marL="0" rtl="0" algn="l">
              <a:spcBef>
                <a:spcPts val="14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75bbe1f981_5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75bbe1f981_5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fifth model is XGBoosting, the model score is not bad, 0.70 for f1 score and 0.68 for AUC score, the matrix and plot shows both the two levels get </a:t>
            </a:r>
            <a:r>
              <a:rPr lang="en"/>
              <a:t>similar accuracy.</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75d9632aa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75d9632aa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final model we trained is KNN, we got really high f1 score for this one, 96%. But for our test data, we only got 52% </a:t>
            </a:r>
            <a:r>
              <a:rPr lang="en"/>
              <a:t>accurate prediction</a:t>
            </a:r>
            <a:r>
              <a:rPr lang="en"/>
              <a:t>. From the confusion matrix we can see, the data in class </a:t>
            </a:r>
            <a:r>
              <a:rPr lang="en"/>
              <a:t>labeled</a:t>
            </a:r>
            <a:r>
              <a:rPr lang="en"/>
              <a:t> 1 are almost all </a:t>
            </a:r>
            <a:r>
              <a:rPr lang="en"/>
              <a:t>predicted</a:t>
            </a:r>
            <a:r>
              <a:rPr lang="en"/>
              <a:t> wrong. This should be the problem of best tuning parameter for number of neighbors is only 1</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横坐标：</a:t>
            </a:r>
            <a:r>
              <a:rPr b="1" lang="en"/>
              <a:t>1-Specificity</a:t>
            </a:r>
            <a:r>
              <a:rPr lang="en"/>
              <a:t>，伪正类率(False positive rate， FPR)，</a:t>
            </a:r>
            <a:r>
              <a:rPr b="1" lang="en"/>
              <a:t>预测为正但实际为负</a:t>
            </a:r>
            <a:r>
              <a:rPr lang="en"/>
              <a:t>的样本占</a:t>
            </a:r>
            <a:r>
              <a:rPr b="1" lang="en"/>
              <a:t>所有负例样本</a:t>
            </a:r>
            <a:r>
              <a:rPr lang="en"/>
              <a:t>的比例；</a:t>
            </a:r>
            <a:endParaRPr/>
          </a:p>
          <a:p>
            <a:pPr indent="0" lvl="0" marL="0" rtl="0" algn="l">
              <a:spcBef>
                <a:spcPts val="0"/>
              </a:spcBef>
              <a:spcAft>
                <a:spcPts val="0"/>
              </a:spcAft>
              <a:buNone/>
            </a:pPr>
            <a:r>
              <a:rPr lang="en"/>
              <a:t>纵坐标：</a:t>
            </a:r>
            <a:r>
              <a:rPr b="1" lang="en"/>
              <a:t>Sensitivity</a:t>
            </a:r>
            <a:r>
              <a:rPr lang="en"/>
              <a:t>，真正类率(True positive rate， TPR)，</a:t>
            </a:r>
            <a:r>
              <a:rPr b="1" lang="en"/>
              <a:t>预测为正且实际为正</a:t>
            </a:r>
            <a:r>
              <a:rPr lang="en"/>
              <a:t>的样本占</a:t>
            </a:r>
            <a:r>
              <a:rPr b="1" lang="en"/>
              <a:t>所有正例样本</a:t>
            </a:r>
            <a:r>
              <a:rPr lang="en"/>
              <a:t>的比例。</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75bbe1f98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75bbe1f98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75bbe1f98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75bbe1f98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highlight>
                  <a:srgbClr val="FFFFFF"/>
                </a:highlight>
              </a:rPr>
              <a:t>Finally, we use the Random forest classifier to find out the most important features for our model. From the plot, we can see, the top 2 important features are external_sources_3 and external_sources_2, these two features score are much higher than the other features, </a:t>
            </a:r>
            <a:r>
              <a:rPr lang="en" sz="1050">
                <a:highlight>
                  <a:srgbClr val="FFFFFF"/>
                </a:highlight>
              </a:rPr>
              <a:t>unfortunately</a:t>
            </a:r>
            <a:r>
              <a:rPr lang="en" sz="1050">
                <a:highlight>
                  <a:srgbClr val="FFFFFF"/>
                </a:highlight>
              </a:rPr>
              <a:t> the data provider does not give us any information about these feature. But we think they are something very secret such as saving amount, credit score and so on. </a:t>
            </a:r>
            <a:endParaRPr/>
          </a:p>
          <a:p>
            <a:pPr indent="0" lvl="0" marL="0" rtl="0" algn="l">
              <a:spcBef>
                <a:spcPts val="0"/>
              </a:spcBef>
              <a:spcAft>
                <a:spcPts val="0"/>
              </a:spcAft>
              <a:buNone/>
            </a:pPr>
            <a:r>
              <a:rPr lang="en"/>
              <a:t>Employment, age in the third and fourth place, along with education and the loan annuity, these four features can estimate your income level and you ability to make the repayment. </a:t>
            </a:r>
            <a:endParaRPr/>
          </a:p>
          <a:p>
            <a:pPr indent="0" lvl="0" marL="0" rtl="0" algn="l">
              <a:spcBef>
                <a:spcPts val="0"/>
              </a:spcBef>
              <a:spcAft>
                <a:spcPts val="0"/>
              </a:spcAft>
              <a:buNone/>
            </a:pPr>
            <a:r>
              <a:rPr lang="en"/>
              <a:t>Besides, the loan credit amount is also important, if the goods value are too high or credit amount of the loan are too high the applicant may likely to default the payment.</a:t>
            </a:r>
            <a:endParaRPr/>
          </a:p>
          <a:p>
            <a:pPr indent="0" lvl="0" marL="0" rtl="0" algn="l">
              <a:spcBef>
                <a:spcPts val="0"/>
              </a:spcBef>
              <a:spcAft>
                <a:spcPts val="0"/>
              </a:spcAft>
              <a:buNone/>
            </a:pPr>
            <a:r>
              <a:rPr lang="en"/>
              <a:t>These two line indicate, the frequency of changing phone numbers and Identity document can indicate the </a:t>
            </a:r>
            <a:r>
              <a:rPr lang="en"/>
              <a:t>possibility</a:t>
            </a:r>
            <a:r>
              <a:rPr lang="en"/>
              <a:t> of  </a:t>
            </a:r>
            <a:r>
              <a:rPr b="1" lang="en" sz="1050">
                <a:solidFill>
                  <a:srgbClr val="6A6A6A"/>
                </a:solidFill>
                <a:highlight>
                  <a:srgbClr val="FFFFFF"/>
                </a:highlight>
                <a:latin typeface="Roboto"/>
                <a:ea typeface="Roboto"/>
                <a:cs typeface="Roboto"/>
                <a:sym typeface="Roboto"/>
              </a:rPr>
              <a:t>Loan fraud</a:t>
            </a:r>
            <a:r>
              <a:rPr lang="en" sz="1050">
                <a:solidFill>
                  <a:srgbClr val="545454"/>
                </a:solidFill>
                <a:highlight>
                  <a:srgbClr val="FFFFFF"/>
                </a:highlight>
                <a:latin typeface="Roboto"/>
                <a:ea typeface="Roboto"/>
                <a:cs typeface="Roboto"/>
                <a:sym typeface="Roboto"/>
              </a:rPr>
              <a:t> problem. (refers to the providing of false information when applying for or receiving a loan.) </a:t>
            </a:r>
            <a:r>
              <a:rPr lang="en"/>
              <a:t> </a:t>
            </a:r>
            <a:endParaRPr/>
          </a:p>
          <a:p>
            <a:pPr indent="0" lvl="0" marL="0" rtl="0" algn="l">
              <a:spcBef>
                <a:spcPts val="0"/>
              </a:spcBef>
              <a:spcAft>
                <a:spcPts val="0"/>
              </a:spcAft>
              <a:buNone/>
            </a:pPr>
            <a:r>
              <a:rPr lang="en"/>
              <a:t>So in a word, whether an applicant can repay a loan is mainly based on whether they have enough money and whether they are possible a fraudulent customer.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75bbe1f98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75bbe1f98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Lest give a conclusion, our goal is to find the best model to </a:t>
            </a:r>
            <a:r>
              <a:rPr lang="en"/>
              <a:t>predict whether an applicant can make the repayment of the a loan. And we find the answer is random forest. We also find features such as age, income, loan amount applied and possibility of loan fraud are key factors in making prediction. </a:t>
            </a:r>
            <a:endParaRPr/>
          </a:p>
          <a:p>
            <a:pPr indent="0" lvl="0" marL="0" rtl="0" algn="l">
              <a:spcBef>
                <a:spcPts val="0"/>
              </a:spcBef>
              <a:spcAft>
                <a:spcPts val="0"/>
              </a:spcAft>
              <a:buNone/>
            </a:pPr>
            <a:r>
              <a:rPr lang="en"/>
              <a:t>For our further improvements, we think more precise variable selection before training the model may help us get a better result.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75dae691e7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75dae691e7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1.jpg"/><Relationship Id="rId5"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66" name="Shape 66"/>
        <p:cNvGrpSpPr/>
        <p:nvPr/>
      </p:nvGrpSpPr>
      <p:grpSpPr>
        <a:xfrm>
          <a:off x="0" y="0"/>
          <a:ext cx="0" cy="0"/>
          <a:chOff x="0" y="0"/>
          <a:chExt cx="0" cy="0"/>
        </a:xfrm>
      </p:grpSpPr>
      <p:sp>
        <p:nvSpPr>
          <p:cNvPr id="67" name="Google Shape;67;p13"/>
          <p:cNvSpPr txBox="1"/>
          <p:nvPr>
            <p:ph type="ctrTitle"/>
          </p:nvPr>
        </p:nvSpPr>
        <p:spPr>
          <a:xfrm>
            <a:off x="1059175" y="689425"/>
            <a:ext cx="4381200" cy="109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solidFill>
                <a:srgbClr val="000000"/>
              </a:solidFill>
              <a:latin typeface="Montserrat Black"/>
              <a:ea typeface="Montserrat Black"/>
              <a:cs typeface="Montserrat Black"/>
              <a:sym typeface="Montserrat Black"/>
            </a:endParaRPr>
          </a:p>
          <a:p>
            <a:pPr indent="0" lvl="0" marL="0" rtl="0" algn="l">
              <a:spcBef>
                <a:spcPts val="0"/>
              </a:spcBef>
              <a:spcAft>
                <a:spcPts val="0"/>
              </a:spcAft>
              <a:buNone/>
            </a:pPr>
            <a:r>
              <a:rPr lang="en">
                <a:solidFill>
                  <a:srgbClr val="000000"/>
                </a:solidFill>
                <a:latin typeface="Montserrat Black"/>
                <a:ea typeface="Montserrat Black"/>
                <a:cs typeface="Montserrat Black"/>
                <a:sym typeface="Montserrat Black"/>
              </a:rPr>
              <a:t>Default Risk</a:t>
            </a:r>
            <a:endParaRPr>
              <a:solidFill>
                <a:srgbClr val="000000"/>
              </a:solidFill>
              <a:latin typeface="Montserrat Black"/>
              <a:ea typeface="Montserrat Black"/>
              <a:cs typeface="Montserrat Black"/>
              <a:sym typeface="Montserrat Black"/>
            </a:endParaRPr>
          </a:p>
        </p:txBody>
      </p:sp>
      <p:sp>
        <p:nvSpPr>
          <p:cNvPr id="68" name="Google Shape;68;p13"/>
          <p:cNvSpPr txBox="1"/>
          <p:nvPr>
            <p:ph idx="1" type="subTitle"/>
          </p:nvPr>
        </p:nvSpPr>
        <p:spPr>
          <a:xfrm>
            <a:off x="3713575" y="3907500"/>
            <a:ext cx="5319600" cy="864600"/>
          </a:xfrm>
          <a:prstGeom prst="rect">
            <a:avLst/>
          </a:prstGeom>
        </p:spPr>
        <p:txBody>
          <a:bodyPr anchorCtr="0" anchor="t" bIns="91425" lIns="91425" spcFirstLastPara="1" rIns="91425" wrap="square" tIns="91425">
            <a:noAutofit/>
          </a:bodyPr>
          <a:lstStyle/>
          <a:p>
            <a:pPr indent="0" lvl="0" marL="914400" rtl="0" algn="l">
              <a:spcBef>
                <a:spcPts val="0"/>
              </a:spcBef>
              <a:spcAft>
                <a:spcPts val="0"/>
              </a:spcAft>
              <a:buNone/>
            </a:pPr>
            <a:r>
              <a:rPr b="1" lang="en">
                <a:solidFill>
                  <a:srgbClr val="134F5C"/>
                </a:solidFill>
              </a:rPr>
              <a:t>Danlei Qian</a:t>
            </a:r>
            <a:r>
              <a:rPr b="1" lang="en">
                <a:solidFill>
                  <a:srgbClr val="134F5C"/>
                </a:solidFill>
              </a:rPr>
              <a:t>, HungChun Lin, </a:t>
            </a:r>
            <a:r>
              <a:rPr b="1" lang="en">
                <a:solidFill>
                  <a:srgbClr val="134F5C"/>
                </a:solidFill>
              </a:rPr>
              <a:t>Chen Chen</a:t>
            </a:r>
            <a:endParaRPr b="1">
              <a:solidFill>
                <a:srgbClr val="134F5C"/>
              </a:solidFill>
            </a:endParaRPr>
          </a:p>
          <a:p>
            <a:pPr indent="0" lvl="0" marL="914400" rtl="0" algn="l">
              <a:spcBef>
                <a:spcPts val="0"/>
              </a:spcBef>
              <a:spcAft>
                <a:spcPts val="0"/>
              </a:spcAft>
              <a:buNone/>
            </a:pPr>
            <a:r>
              <a:rPr b="1" lang="en">
                <a:solidFill>
                  <a:srgbClr val="134F5C"/>
                </a:solidFill>
              </a:rPr>
              <a:t>DATS6202 Final Project</a:t>
            </a:r>
            <a:endParaRPr b="1">
              <a:solidFill>
                <a:srgbClr val="134F5C"/>
              </a:solidFill>
            </a:endParaRPr>
          </a:p>
        </p:txBody>
      </p:sp>
      <p:pic>
        <p:nvPicPr>
          <p:cNvPr id="69" name="Google Shape;69;p13"/>
          <p:cNvPicPr preferRelativeResize="0"/>
          <p:nvPr/>
        </p:nvPicPr>
        <p:blipFill>
          <a:blip r:embed="rId3">
            <a:alphaModFix/>
          </a:blip>
          <a:stretch>
            <a:fillRect/>
          </a:stretch>
        </p:blipFill>
        <p:spPr>
          <a:xfrm>
            <a:off x="0" y="-15175"/>
            <a:ext cx="614500" cy="5173850"/>
          </a:xfrm>
          <a:prstGeom prst="rect">
            <a:avLst/>
          </a:prstGeom>
          <a:noFill/>
          <a:ln>
            <a:noFill/>
          </a:ln>
        </p:spPr>
      </p:pic>
      <p:pic>
        <p:nvPicPr>
          <p:cNvPr id="70" name="Google Shape;70;p13"/>
          <p:cNvPicPr preferRelativeResize="0"/>
          <p:nvPr/>
        </p:nvPicPr>
        <p:blipFill>
          <a:blip r:embed="rId4">
            <a:alphaModFix/>
          </a:blip>
          <a:stretch>
            <a:fillRect/>
          </a:stretch>
        </p:blipFill>
        <p:spPr>
          <a:xfrm>
            <a:off x="6602655" y="403225"/>
            <a:ext cx="2035045" cy="864600"/>
          </a:xfrm>
          <a:prstGeom prst="rect">
            <a:avLst/>
          </a:prstGeom>
          <a:noFill/>
          <a:ln>
            <a:noFill/>
          </a:ln>
        </p:spPr>
      </p:pic>
      <p:sp>
        <p:nvSpPr>
          <p:cNvPr id="71" name="Google Shape;71;p13"/>
          <p:cNvSpPr txBox="1"/>
          <p:nvPr/>
        </p:nvSpPr>
        <p:spPr>
          <a:xfrm>
            <a:off x="1059175" y="2399800"/>
            <a:ext cx="74025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BF9000"/>
                </a:solidFill>
                <a:latin typeface="Avenir"/>
                <a:ea typeface="Avenir"/>
                <a:cs typeface="Avenir"/>
                <a:sym typeface="Avenir"/>
              </a:rPr>
              <a:t>How capable each applicant is of repaying a loan?</a:t>
            </a:r>
            <a:endParaRPr b="1" sz="2400">
              <a:solidFill>
                <a:srgbClr val="BF9000"/>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5" name="Shape 75"/>
        <p:cNvGrpSpPr/>
        <p:nvPr/>
      </p:nvGrpSpPr>
      <p:grpSpPr>
        <a:xfrm>
          <a:off x="0" y="0"/>
          <a:ext cx="0" cy="0"/>
          <a:chOff x="0" y="0"/>
          <a:chExt cx="0" cy="0"/>
        </a:xfrm>
      </p:grpSpPr>
      <p:pic>
        <p:nvPicPr>
          <p:cNvPr id="76" name="Google Shape;76;p14"/>
          <p:cNvPicPr preferRelativeResize="0"/>
          <p:nvPr/>
        </p:nvPicPr>
        <p:blipFill>
          <a:blip r:embed="rId3">
            <a:alphaModFix/>
          </a:blip>
          <a:stretch>
            <a:fillRect/>
          </a:stretch>
        </p:blipFill>
        <p:spPr>
          <a:xfrm>
            <a:off x="0" y="8"/>
            <a:ext cx="9144001" cy="524033"/>
          </a:xfrm>
          <a:prstGeom prst="rect">
            <a:avLst/>
          </a:prstGeom>
          <a:noFill/>
          <a:ln>
            <a:noFill/>
          </a:ln>
        </p:spPr>
      </p:pic>
      <p:sp>
        <p:nvSpPr>
          <p:cNvPr id="77" name="Google Shape;77;p14"/>
          <p:cNvSpPr txBox="1"/>
          <p:nvPr/>
        </p:nvSpPr>
        <p:spPr>
          <a:xfrm>
            <a:off x="136550" y="675175"/>
            <a:ext cx="8586900" cy="298500"/>
          </a:xfrm>
          <a:prstGeom prst="rect">
            <a:avLst/>
          </a:prstGeom>
          <a:noFill/>
          <a:ln>
            <a:noFill/>
          </a:ln>
        </p:spPr>
        <p:txBody>
          <a:bodyPr anchorCtr="0" anchor="t" bIns="91425" lIns="91425" spcFirstLastPara="1" rIns="91425" wrap="square" tIns="91425">
            <a:noAutofit/>
          </a:bodyPr>
          <a:lstStyle/>
          <a:p>
            <a:pPr indent="0" lvl="0" marL="50800" marR="203200" rtl="0" algn="l">
              <a:lnSpc>
                <a:spcPct val="170000"/>
              </a:lnSpc>
              <a:spcBef>
                <a:spcPts val="1200"/>
              </a:spcBef>
              <a:spcAft>
                <a:spcPts val="0"/>
              </a:spcAft>
              <a:buNone/>
            </a:pPr>
            <a:r>
              <a:t/>
            </a:r>
            <a:endParaRPr sz="1050">
              <a:highlight>
                <a:srgbClr val="FFFFFF"/>
              </a:highlight>
            </a:endParaRPr>
          </a:p>
          <a:p>
            <a:pPr indent="0" lvl="0" marL="50800" marR="203200" rtl="0" algn="l">
              <a:lnSpc>
                <a:spcPct val="170000"/>
              </a:lnSpc>
              <a:spcBef>
                <a:spcPts val="1200"/>
              </a:spcBef>
              <a:spcAft>
                <a:spcPts val="0"/>
              </a:spcAft>
              <a:buNone/>
            </a:pPr>
            <a:r>
              <a:t/>
            </a:r>
            <a:endParaRPr sz="1100">
              <a:highlight>
                <a:srgbClr val="FFFFFF"/>
              </a:highlight>
              <a:latin typeface="Roboto Mono"/>
              <a:ea typeface="Roboto Mono"/>
              <a:cs typeface="Roboto Mono"/>
              <a:sym typeface="Roboto Mono"/>
            </a:endParaRPr>
          </a:p>
          <a:p>
            <a:pPr indent="0" lvl="0" marL="50800" marR="50800" rtl="0" algn="l">
              <a:lnSpc>
                <a:spcPct val="170000"/>
              </a:lnSpc>
              <a:spcBef>
                <a:spcPts val="150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t/>
            </a:r>
            <a:endParaRPr>
              <a:latin typeface="Roboto"/>
              <a:ea typeface="Roboto"/>
              <a:cs typeface="Roboto"/>
              <a:sym typeface="Roboto"/>
            </a:endParaRPr>
          </a:p>
        </p:txBody>
      </p:sp>
      <p:sp>
        <p:nvSpPr>
          <p:cNvPr id="78" name="Google Shape;78;p14"/>
          <p:cNvSpPr txBox="1"/>
          <p:nvPr/>
        </p:nvSpPr>
        <p:spPr>
          <a:xfrm>
            <a:off x="48000" y="399369"/>
            <a:ext cx="2746500" cy="102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Introduction</a:t>
            </a:r>
            <a:endParaRPr b="1" sz="3000">
              <a:latin typeface="Roboto"/>
              <a:ea typeface="Roboto"/>
              <a:cs typeface="Roboto"/>
              <a:sym typeface="Roboto"/>
            </a:endParaRPr>
          </a:p>
        </p:txBody>
      </p:sp>
      <p:sp>
        <p:nvSpPr>
          <p:cNvPr id="79" name="Google Shape;79;p14"/>
          <p:cNvSpPr txBox="1"/>
          <p:nvPr/>
        </p:nvSpPr>
        <p:spPr>
          <a:xfrm>
            <a:off x="48000" y="750600"/>
            <a:ext cx="9144000" cy="4392900"/>
          </a:xfrm>
          <a:prstGeom prst="rect">
            <a:avLst/>
          </a:prstGeom>
          <a:noFill/>
          <a:ln>
            <a:noFill/>
          </a:ln>
        </p:spPr>
        <p:txBody>
          <a:bodyPr anchorCtr="0" anchor="t" bIns="91425" lIns="91425" spcFirstLastPara="1" rIns="91425" wrap="square" tIns="91425">
            <a:noAutofit/>
          </a:bodyPr>
          <a:lstStyle/>
          <a:p>
            <a:pPr indent="0" lvl="0" marL="50800" marR="203200" rtl="0" algn="l">
              <a:lnSpc>
                <a:spcPct val="170000"/>
              </a:lnSpc>
              <a:spcBef>
                <a:spcPts val="1200"/>
              </a:spcBef>
              <a:spcAft>
                <a:spcPts val="0"/>
              </a:spcAft>
              <a:buNone/>
            </a:pPr>
            <a:r>
              <a:rPr b="1" lang="en" sz="1200"/>
              <a:t>Background</a:t>
            </a:r>
            <a:endParaRPr b="1" sz="1200"/>
          </a:p>
          <a:p>
            <a:pPr indent="0" lvl="0" marL="50800" marR="203200" rtl="0" algn="l">
              <a:lnSpc>
                <a:spcPct val="170000"/>
              </a:lnSpc>
              <a:spcBef>
                <a:spcPts val="1200"/>
              </a:spcBef>
              <a:spcAft>
                <a:spcPts val="0"/>
              </a:spcAft>
              <a:buNone/>
            </a:pPr>
            <a:r>
              <a:rPr lang="en" sz="1200"/>
              <a:t>Home Credit B.V. is an international </a:t>
            </a:r>
            <a:r>
              <a:rPr b="1" lang="en" sz="1200"/>
              <a:t>non-bank financial institution</a:t>
            </a:r>
            <a:r>
              <a:rPr lang="en" sz="1200"/>
              <a:t> founded in 1997 in the</a:t>
            </a:r>
            <a:r>
              <a:rPr b="1" lang="en" sz="1200"/>
              <a:t> Czech Republic</a:t>
            </a:r>
            <a:r>
              <a:rPr lang="en" sz="1200"/>
              <a:t>.The company operates in 14 countries and focuses on lending primarily to people with little or no credit history. As of 2016 the company has over 15 million active customers, with two-thirds of them in Asia and 7.3 million in China. Major shareholder of company is PPF, a privately held international financial and investment group, which controls an 88.62% stake.In order to </a:t>
            </a:r>
            <a:r>
              <a:rPr b="1" lang="en" sz="1200"/>
              <a:t>predict the repayment ability of their customers</a:t>
            </a:r>
            <a:r>
              <a:rPr lang="en" sz="1200"/>
              <a:t>, Home Credit held a Kaggle competition to see what sort of models the machine learning community can develop to help them in this task.</a:t>
            </a:r>
            <a:endParaRPr sz="1200"/>
          </a:p>
          <a:p>
            <a:pPr indent="0" lvl="0" marL="50800" marR="203200" rtl="0" algn="l">
              <a:lnSpc>
                <a:spcPct val="170000"/>
              </a:lnSpc>
              <a:spcBef>
                <a:spcPts val="1200"/>
              </a:spcBef>
              <a:spcAft>
                <a:spcPts val="0"/>
              </a:spcAft>
              <a:buNone/>
            </a:pPr>
            <a:r>
              <a:rPr b="1" lang="en" sz="1200"/>
              <a:t>Goal </a:t>
            </a:r>
            <a:endParaRPr sz="1200"/>
          </a:p>
          <a:p>
            <a:pPr indent="0" lvl="0" marL="50800" marR="203200" rtl="0" algn="l">
              <a:lnSpc>
                <a:spcPct val="170000"/>
              </a:lnSpc>
              <a:spcBef>
                <a:spcPts val="1200"/>
              </a:spcBef>
              <a:spcAft>
                <a:spcPts val="0"/>
              </a:spcAft>
              <a:buNone/>
            </a:pPr>
            <a:r>
              <a:rPr lang="en" sz="1200"/>
              <a:t>How capable each applicant is of repaying a loan?</a:t>
            </a:r>
            <a:endParaRPr sz="1200"/>
          </a:p>
          <a:p>
            <a:pPr indent="0" lvl="0" marL="50800" marR="203200" rtl="0" algn="l">
              <a:lnSpc>
                <a:spcPct val="170000"/>
              </a:lnSpc>
              <a:spcBef>
                <a:spcPts val="1200"/>
              </a:spcBef>
              <a:spcAft>
                <a:spcPts val="0"/>
              </a:spcAft>
              <a:buNone/>
            </a:pPr>
            <a:r>
              <a:rPr b="1" lang="en" sz="1200"/>
              <a:t>Data Source:</a:t>
            </a:r>
            <a:endParaRPr b="1" sz="1200"/>
          </a:p>
          <a:p>
            <a:pPr indent="0" lvl="0" marL="50800" marR="203200" rtl="0" algn="l">
              <a:lnSpc>
                <a:spcPct val="170000"/>
              </a:lnSpc>
              <a:spcBef>
                <a:spcPts val="1200"/>
              </a:spcBef>
              <a:spcAft>
                <a:spcPts val="0"/>
              </a:spcAft>
              <a:buNone/>
            </a:pPr>
            <a:r>
              <a:rPr lang="en" sz="1200"/>
              <a:t>https://www.kaggle.com/c/home-credit-default-risk/data</a:t>
            </a:r>
            <a:endParaRPr sz="1200"/>
          </a:p>
          <a:p>
            <a:pPr indent="0" lvl="0" marL="50800" marR="203200" rtl="0" algn="l">
              <a:lnSpc>
                <a:spcPct val="170000"/>
              </a:lnSpc>
              <a:spcBef>
                <a:spcPts val="1200"/>
              </a:spcBef>
              <a:spcAft>
                <a:spcPts val="0"/>
              </a:spcAft>
              <a:buNone/>
            </a:pPr>
            <a:r>
              <a:t/>
            </a:r>
            <a:endParaRPr sz="1200"/>
          </a:p>
          <a:p>
            <a:pPr indent="0" lvl="0" marL="50800" marR="203200" rtl="0" algn="l">
              <a:lnSpc>
                <a:spcPct val="170000"/>
              </a:lnSpc>
              <a:spcBef>
                <a:spcPts val="1200"/>
              </a:spcBef>
              <a:spcAft>
                <a:spcPts val="0"/>
              </a:spcAft>
              <a:buNone/>
            </a:pPr>
            <a:r>
              <a:t/>
            </a:r>
            <a:endParaRPr sz="1200"/>
          </a:p>
          <a:p>
            <a:pPr indent="0" lvl="0" marL="50800" marR="203200" rtl="0" algn="l">
              <a:lnSpc>
                <a:spcPct val="170000"/>
              </a:lnSpc>
              <a:spcBef>
                <a:spcPts val="1200"/>
              </a:spcBef>
              <a:spcAft>
                <a:spcPts val="1200"/>
              </a:spcAft>
              <a:buNone/>
            </a:pPr>
            <a:r>
              <a:t/>
            </a:r>
            <a:endParaRPr>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83" name="Shape 83"/>
        <p:cNvGrpSpPr/>
        <p:nvPr/>
      </p:nvGrpSpPr>
      <p:grpSpPr>
        <a:xfrm>
          <a:off x="0" y="0"/>
          <a:ext cx="0" cy="0"/>
          <a:chOff x="0" y="0"/>
          <a:chExt cx="0" cy="0"/>
        </a:xfrm>
      </p:grpSpPr>
      <p:pic>
        <p:nvPicPr>
          <p:cNvPr id="84" name="Google Shape;84;p15"/>
          <p:cNvPicPr preferRelativeResize="0"/>
          <p:nvPr/>
        </p:nvPicPr>
        <p:blipFill>
          <a:blip r:embed="rId3">
            <a:alphaModFix/>
          </a:blip>
          <a:stretch>
            <a:fillRect/>
          </a:stretch>
        </p:blipFill>
        <p:spPr>
          <a:xfrm>
            <a:off x="0" y="8"/>
            <a:ext cx="9144001" cy="524033"/>
          </a:xfrm>
          <a:prstGeom prst="rect">
            <a:avLst/>
          </a:prstGeom>
          <a:noFill/>
          <a:ln>
            <a:noFill/>
          </a:ln>
        </p:spPr>
      </p:pic>
      <p:sp>
        <p:nvSpPr>
          <p:cNvPr id="85" name="Google Shape;85;p15"/>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Dataset </a:t>
            </a:r>
            <a:r>
              <a:rPr b="1" lang="en" sz="3000">
                <a:latin typeface="Roboto"/>
                <a:ea typeface="Roboto"/>
                <a:cs typeface="Roboto"/>
                <a:sym typeface="Roboto"/>
              </a:rPr>
              <a:t>Description</a:t>
            </a:r>
            <a:endParaRPr b="1" sz="3000">
              <a:latin typeface="Roboto"/>
              <a:ea typeface="Roboto"/>
              <a:cs typeface="Roboto"/>
              <a:sym typeface="Roboto"/>
            </a:endParaRPr>
          </a:p>
        </p:txBody>
      </p:sp>
      <p:pic>
        <p:nvPicPr>
          <p:cNvPr id="86" name="Google Shape;86;p15"/>
          <p:cNvPicPr preferRelativeResize="0"/>
          <p:nvPr/>
        </p:nvPicPr>
        <p:blipFill>
          <a:blip r:embed="rId4">
            <a:alphaModFix/>
          </a:blip>
          <a:stretch>
            <a:fillRect/>
          </a:stretch>
        </p:blipFill>
        <p:spPr>
          <a:xfrm>
            <a:off x="161150" y="1070212"/>
            <a:ext cx="8492201" cy="1882325"/>
          </a:xfrm>
          <a:prstGeom prst="rect">
            <a:avLst/>
          </a:prstGeom>
          <a:noFill/>
          <a:ln>
            <a:noFill/>
          </a:ln>
        </p:spPr>
      </p:pic>
      <p:pic>
        <p:nvPicPr>
          <p:cNvPr id="87" name="Google Shape;87;p15"/>
          <p:cNvPicPr preferRelativeResize="0"/>
          <p:nvPr/>
        </p:nvPicPr>
        <p:blipFill>
          <a:blip r:embed="rId5">
            <a:alphaModFix/>
          </a:blip>
          <a:stretch>
            <a:fillRect/>
          </a:stretch>
        </p:blipFill>
        <p:spPr>
          <a:xfrm>
            <a:off x="253650" y="3167252"/>
            <a:ext cx="5950799" cy="1490450"/>
          </a:xfrm>
          <a:prstGeom prst="rect">
            <a:avLst/>
          </a:prstGeom>
          <a:noFill/>
          <a:ln>
            <a:noFill/>
          </a:ln>
        </p:spPr>
      </p:pic>
      <p:sp>
        <p:nvSpPr>
          <p:cNvPr id="88" name="Google Shape;88;p15"/>
          <p:cNvSpPr/>
          <p:nvPr/>
        </p:nvSpPr>
        <p:spPr>
          <a:xfrm>
            <a:off x="5602375" y="3554800"/>
            <a:ext cx="3446100" cy="412800"/>
          </a:xfrm>
          <a:prstGeom prst="rect">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accent4"/>
                </a:solidFill>
              </a:rPr>
              <a:t>307511 rows </a:t>
            </a:r>
            <a:r>
              <a:rPr b="1" lang="en" sz="1800">
                <a:solidFill>
                  <a:schemeClr val="accent4"/>
                </a:solidFill>
              </a:rPr>
              <a:t>✖ 122 columns</a:t>
            </a:r>
            <a:endParaRPr b="1" sz="1800">
              <a:solidFill>
                <a:schemeClr val="accent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92" name="Shape 92"/>
        <p:cNvGrpSpPr/>
        <p:nvPr/>
      </p:nvGrpSpPr>
      <p:grpSpPr>
        <a:xfrm>
          <a:off x="0" y="0"/>
          <a:ext cx="0" cy="0"/>
          <a:chOff x="0" y="0"/>
          <a:chExt cx="0" cy="0"/>
        </a:xfrm>
      </p:grpSpPr>
      <p:pic>
        <p:nvPicPr>
          <p:cNvPr id="93" name="Google Shape;93;p16"/>
          <p:cNvPicPr preferRelativeResize="0"/>
          <p:nvPr/>
        </p:nvPicPr>
        <p:blipFill>
          <a:blip r:embed="rId3">
            <a:alphaModFix/>
          </a:blip>
          <a:stretch>
            <a:fillRect/>
          </a:stretch>
        </p:blipFill>
        <p:spPr>
          <a:xfrm>
            <a:off x="0" y="8"/>
            <a:ext cx="9144001" cy="524033"/>
          </a:xfrm>
          <a:prstGeom prst="rect">
            <a:avLst/>
          </a:prstGeom>
          <a:noFill/>
          <a:ln>
            <a:noFill/>
          </a:ln>
        </p:spPr>
      </p:pic>
      <p:sp>
        <p:nvSpPr>
          <p:cNvPr id="94" name="Google Shape;94;p16"/>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Dataset Description</a:t>
            </a:r>
            <a:endParaRPr b="1" sz="3000">
              <a:latin typeface="Roboto"/>
              <a:ea typeface="Roboto"/>
              <a:cs typeface="Roboto"/>
              <a:sym typeface="Roboto"/>
            </a:endParaRPr>
          </a:p>
        </p:txBody>
      </p:sp>
      <p:sp>
        <p:nvSpPr>
          <p:cNvPr id="95" name="Google Shape;95;p16"/>
          <p:cNvSpPr txBox="1"/>
          <p:nvPr/>
        </p:nvSpPr>
        <p:spPr>
          <a:xfrm>
            <a:off x="295450" y="1342950"/>
            <a:ext cx="6258300" cy="10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96" name="Google Shape;96;p16"/>
          <p:cNvSpPr txBox="1"/>
          <p:nvPr/>
        </p:nvSpPr>
        <p:spPr>
          <a:xfrm>
            <a:off x="295450" y="969550"/>
            <a:ext cx="7500600" cy="1063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a:latin typeface="Roboto"/>
                <a:ea typeface="Roboto"/>
                <a:cs typeface="Roboto"/>
                <a:sym typeface="Roboto"/>
              </a:rPr>
              <a:t>Target</a:t>
            </a:r>
            <a:endParaRPr b="1">
              <a:latin typeface="Roboto"/>
              <a:ea typeface="Roboto"/>
              <a:cs typeface="Roboto"/>
              <a:sym typeface="Roboto"/>
            </a:endParaRPr>
          </a:p>
          <a:p>
            <a:pPr indent="-317500" lvl="0" marL="457200" marR="0" rtl="0" algn="l">
              <a:lnSpc>
                <a:spcPct val="115000"/>
              </a:lnSpc>
              <a:spcBef>
                <a:spcPts val="0"/>
              </a:spcBef>
              <a:spcAft>
                <a:spcPts val="0"/>
              </a:spcAft>
              <a:buSzPts val="1400"/>
              <a:buFont typeface="Roboto"/>
              <a:buChar char="●"/>
            </a:pPr>
            <a:r>
              <a:rPr lang="en">
                <a:latin typeface="Roboto"/>
                <a:ea typeface="Roboto"/>
                <a:cs typeface="Roboto"/>
                <a:sym typeface="Roboto"/>
              </a:rPr>
              <a:t>1 - client with </a:t>
            </a:r>
            <a:r>
              <a:rPr b="1" lang="en">
                <a:solidFill>
                  <a:srgbClr val="0000FF"/>
                </a:solidFill>
                <a:latin typeface="Roboto"/>
                <a:ea typeface="Roboto"/>
                <a:cs typeface="Roboto"/>
                <a:sym typeface="Roboto"/>
              </a:rPr>
              <a:t>payment difficulties</a:t>
            </a:r>
            <a:r>
              <a:rPr lang="en">
                <a:latin typeface="Roboto"/>
                <a:ea typeface="Roboto"/>
                <a:cs typeface="Roboto"/>
                <a:sym typeface="Roboto"/>
              </a:rPr>
              <a:t>: he/she had late payment more than X days on at  least one of the first Y installments of the loan in our sample</a:t>
            </a:r>
            <a:endParaRPr>
              <a:latin typeface="Roboto"/>
              <a:ea typeface="Roboto"/>
              <a:cs typeface="Roboto"/>
              <a:sym typeface="Roboto"/>
            </a:endParaRPr>
          </a:p>
          <a:p>
            <a:pPr indent="-317500" lvl="0" marL="457200" marR="0" rtl="0" algn="l">
              <a:lnSpc>
                <a:spcPct val="115000"/>
              </a:lnSpc>
              <a:spcBef>
                <a:spcPts val="0"/>
              </a:spcBef>
              <a:spcAft>
                <a:spcPts val="0"/>
              </a:spcAft>
              <a:buSzPts val="1400"/>
              <a:buFont typeface="Roboto"/>
              <a:buChar char="●"/>
            </a:pPr>
            <a:r>
              <a:rPr lang="en">
                <a:latin typeface="Roboto"/>
                <a:ea typeface="Roboto"/>
                <a:cs typeface="Roboto"/>
                <a:sym typeface="Roboto"/>
              </a:rPr>
              <a:t>0 - client with </a:t>
            </a:r>
            <a:r>
              <a:rPr b="1" lang="en">
                <a:solidFill>
                  <a:srgbClr val="0000FF"/>
                </a:solidFill>
                <a:latin typeface="Roboto"/>
                <a:ea typeface="Roboto"/>
                <a:cs typeface="Roboto"/>
                <a:sym typeface="Roboto"/>
              </a:rPr>
              <a:t>payment on time</a:t>
            </a:r>
            <a:r>
              <a:rPr lang="en">
                <a:latin typeface="Roboto"/>
                <a:ea typeface="Roboto"/>
                <a:cs typeface="Roboto"/>
                <a:sym typeface="Roboto"/>
              </a:rPr>
              <a:t> : the loan was repaid</a:t>
            </a:r>
            <a:endParaRPr/>
          </a:p>
        </p:txBody>
      </p:sp>
      <p:sp>
        <p:nvSpPr>
          <p:cNvPr id="97" name="Google Shape;97;p16"/>
          <p:cNvSpPr txBox="1"/>
          <p:nvPr/>
        </p:nvSpPr>
        <p:spPr>
          <a:xfrm>
            <a:off x="295450" y="2064025"/>
            <a:ext cx="8721600" cy="2352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a:latin typeface="Roboto"/>
                <a:ea typeface="Roboto"/>
                <a:cs typeface="Roboto"/>
                <a:sym typeface="Roboto"/>
              </a:rPr>
              <a:t>Features</a:t>
            </a:r>
            <a:endParaRPr b="1">
              <a:latin typeface="Roboto"/>
              <a:ea typeface="Roboto"/>
              <a:cs typeface="Roboto"/>
              <a:sym typeface="Roboto"/>
            </a:endParaRPr>
          </a:p>
          <a:p>
            <a:pPr indent="-317500" lvl="0" marL="457200" marR="0" rtl="0" algn="l">
              <a:lnSpc>
                <a:spcPct val="115000"/>
              </a:lnSpc>
              <a:spcBef>
                <a:spcPts val="0"/>
              </a:spcBef>
              <a:spcAft>
                <a:spcPts val="0"/>
              </a:spcAft>
              <a:buSzPts val="1400"/>
              <a:buFont typeface="Roboto"/>
              <a:buChar char="●"/>
            </a:pPr>
            <a:r>
              <a:rPr b="1" lang="en">
                <a:latin typeface="Roboto"/>
                <a:ea typeface="Roboto"/>
                <a:cs typeface="Roboto"/>
                <a:sym typeface="Roboto"/>
              </a:rPr>
              <a:t>Categorical</a:t>
            </a:r>
            <a:r>
              <a:rPr lang="en">
                <a:latin typeface="Roboto"/>
                <a:ea typeface="Roboto"/>
                <a:cs typeface="Roboto"/>
                <a:sym typeface="Roboto"/>
              </a:rPr>
              <a:t>:</a:t>
            </a:r>
            <a:endParaRPr>
              <a:latin typeface="Roboto"/>
              <a:ea typeface="Roboto"/>
              <a:cs typeface="Roboto"/>
              <a:sym typeface="Roboto"/>
            </a:endParaRPr>
          </a:p>
          <a:p>
            <a:pPr indent="0" lvl="0" marL="457200" marR="0" rtl="0" algn="l">
              <a:lnSpc>
                <a:spcPct val="115000"/>
              </a:lnSpc>
              <a:spcBef>
                <a:spcPts val="0"/>
              </a:spcBef>
              <a:spcAft>
                <a:spcPts val="0"/>
              </a:spcAft>
              <a:buNone/>
            </a:pPr>
            <a:r>
              <a:rPr lang="en"/>
              <a:t>Gender - Gender of the client (M/F)</a:t>
            </a:r>
            <a:endParaRPr/>
          </a:p>
          <a:p>
            <a:pPr indent="0" lvl="0" marL="457200" marR="0" rtl="0" algn="l">
              <a:lnSpc>
                <a:spcPct val="115000"/>
              </a:lnSpc>
              <a:spcBef>
                <a:spcPts val="0"/>
              </a:spcBef>
              <a:spcAft>
                <a:spcPts val="0"/>
              </a:spcAft>
              <a:buNone/>
            </a:pPr>
            <a:r>
              <a:rPr lang="en"/>
              <a:t>Own a car - Flag if the client owns a car（Y/N）</a:t>
            </a:r>
            <a:endParaRPr/>
          </a:p>
          <a:p>
            <a:pPr indent="0" lvl="0" marL="457200" marR="0" rtl="0" algn="l">
              <a:lnSpc>
                <a:spcPct val="115000"/>
              </a:lnSpc>
              <a:spcBef>
                <a:spcPts val="0"/>
              </a:spcBef>
              <a:spcAft>
                <a:spcPts val="0"/>
              </a:spcAft>
              <a:buNone/>
            </a:pPr>
            <a:r>
              <a:rPr lang="en"/>
              <a:t>Own a house- Flag if client owns a house or flat（Y/N）</a:t>
            </a:r>
            <a:endParaRPr/>
          </a:p>
          <a:p>
            <a:pPr indent="0" lvl="0" marL="457200" marR="0" rtl="0" algn="l">
              <a:lnSpc>
                <a:spcPct val="115000"/>
              </a:lnSpc>
              <a:spcBef>
                <a:spcPts val="0"/>
              </a:spcBef>
              <a:spcAft>
                <a:spcPts val="0"/>
              </a:spcAft>
              <a:buNone/>
            </a:pPr>
            <a:r>
              <a:rPr lang="en"/>
              <a:t>Living region - Our rating of the region where client lives (1,2,3)</a:t>
            </a:r>
            <a:endParaRPr/>
          </a:p>
          <a:p>
            <a:pPr indent="-317500" lvl="0" marL="457200" marR="0" rtl="0" algn="l">
              <a:lnSpc>
                <a:spcPct val="115000"/>
              </a:lnSpc>
              <a:spcBef>
                <a:spcPts val="0"/>
              </a:spcBef>
              <a:spcAft>
                <a:spcPts val="0"/>
              </a:spcAft>
              <a:buSzPts val="1400"/>
              <a:buFont typeface="Roboto"/>
              <a:buChar char="●"/>
            </a:pPr>
            <a:r>
              <a:rPr b="1" lang="en">
                <a:latin typeface="Roboto"/>
                <a:ea typeface="Roboto"/>
                <a:cs typeface="Roboto"/>
                <a:sym typeface="Roboto"/>
              </a:rPr>
              <a:t>Numercial</a:t>
            </a:r>
            <a:r>
              <a:rPr lang="en">
                <a:latin typeface="Roboto"/>
                <a:ea typeface="Roboto"/>
                <a:cs typeface="Roboto"/>
                <a:sym typeface="Roboto"/>
              </a:rPr>
              <a:t>:</a:t>
            </a:r>
            <a:endParaRPr/>
          </a:p>
          <a:p>
            <a:pPr indent="0" lvl="0" marL="457200" marR="0" rtl="0" algn="l">
              <a:lnSpc>
                <a:spcPct val="115000"/>
              </a:lnSpc>
              <a:spcBef>
                <a:spcPts val="0"/>
              </a:spcBef>
              <a:spcAft>
                <a:spcPts val="0"/>
              </a:spcAft>
              <a:buNone/>
            </a:pPr>
            <a:r>
              <a:rPr lang="en"/>
              <a:t>Income - Income of the client</a:t>
            </a:r>
            <a:endParaRPr/>
          </a:p>
          <a:p>
            <a:pPr indent="0" lvl="0" marL="457200" marR="0" rtl="0" algn="l">
              <a:lnSpc>
                <a:spcPct val="115000"/>
              </a:lnSpc>
              <a:spcBef>
                <a:spcPts val="0"/>
              </a:spcBef>
              <a:spcAft>
                <a:spcPts val="0"/>
              </a:spcAft>
              <a:buNone/>
            </a:pPr>
            <a:r>
              <a:rPr lang="en"/>
              <a:t>Credit of the loan - Credit amount of the loan</a:t>
            </a:r>
            <a:endParaRPr/>
          </a:p>
          <a:p>
            <a:pPr indent="0" lvl="0" marL="457200" rtl="0" algn="l">
              <a:lnSpc>
                <a:spcPct val="115000"/>
              </a:lnSpc>
              <a:spcBef>
                <a:spcPts val="0"/>
              </a:spcBef>
              <a:spcAft>
                <a:spcPts val="0"/>
              </a:spcAft>
              <a:buNone/>
            </a:pPr>
            <a:r>
              <a:rPr lang="en"/>
              <a:t>Price of the goods - For consumer loans it is the price of the goods for which the loan is given</a:t>
            </a:r>
            <a:endParaRPr/>
          </a:p>
          <a:p>
            <a:pPr indent="0" lvl="0" marL="457200" rtl="0" algn="l">
              <a:lnSpc>
                <a:spcPct val="115000"/>
              </a:lnSpc>
              <a:spcBef>
                <a:spcPts val="0"/>
              </a:spcBef>
              <a:spcAft>
                <a:spcPts val="0"/>
              </a:spcAft>
              <a:buNone/>
            </a:pPr>
            <a:r>
              <a:rPr lang="en"/>
              <a:t>Days of last day phone change - How many days before application did client change phone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marR="0" rtl="0" algn="l">
              <a:lnSpc>
                <a:spcPct val="115000"/>
              </a:lnSpc>
              <a:spcBef>
                <a:spcPts val="0"/>
              </a:spcBef>
              <a:spcAft>
                <a:spcPts val="0"/>
              </a:spcAft>
              <a:buNone/>
            </a:pPr>
            <a:r>
              <a:t/>
            </a:r>
            <a:endParaRPr>
              <a:latin typeface="Roboto"/>
              <a:ea typeface="Roboto"/>
              <a:cs typeface="Roboto"/>
              <a:sym typeface="Roboto"/>
            </a:endParaRPr>
          </a:p>
          <a:p>
            <a:pPr indent="0" lvl="0" marL="0" rtl="0" algn="l">
              <a:lnSpc>
                <a:spcPct val="115000"/>
              </a:lnSpc>
              <a:spcBef>
                <a:spcPts val="900"/>
              </a:spcBef>
              <a:spcAft>
                <a:spcPts val="0"/>
              </a:spcAft>
              <a:buNone/>
            </a:pPr>
            <a:r>
              <a:t/>
            </a:r>
            <a:endParaRPr b="1"/>
          </a:p>
          <a:p>
            <a:pPr indent="0" lvl="0" marL="0" rtl="0" algn="l">
              <a:lnSpc>
                <a:spcPct val="115000"/>
              </a:lnSpc>
              <a:spcBef>
                <a:spcPts val="900"/>
              </a:spcBef>
              <a:spcAft>
                <a:spcPts val="0"/>
              </a:spcAft>
              <a:buNone/>
            </a:pPr>
            <a:r>
              <a:t/>
            </a:r>
            <a:endParaRPr b="1"/>
          </a:p>
          <a:p>
            <a:pPr indent="0" lvl="0" marL="0" rtl="0" algn="ctr">
              <a:lnSpc>
                <a:spcPct val="115000"/>
              </a:lnSpc>
              <a:spcBef>
                <a:spcPts val="900"/>
              </a:spcBef>
              <a:spcAft>
                <a:spcPts val="0"/>
              </a:spcAft>
              <a:buNone/>
            </a:pPr>
            <a:r>
              <a:t/>
            </a:r>
            <a:endParaRPr b="1"/>
          </a:p>
          <a:p>
            <a:pPr indent="0" lvl="0" marL="0" rtl="0" algn="l">
              <a:lnSpc>
                <a:spcPct val="115000"/>
              </a:lnSpc>
              <a:spcBef>
                <a:spcPts val="900"/>
              </a:spcBef>
              <a:spcAft>
                <a:spcPts val="0"/>
              </a:spcAft>
              <a:buNone/>
            </a:pPr>
            <a:r>
              <a:t/>
            </a:r>
            <a:endParaRPr b="1"/>
          </a:p>
          <a:p>
            <a:pPr indent="0" lvl="0" marL="0" rtl="0" algn="ctr">
              <a:lnSpc>
                <a:spcPct val="115000"/>
              </a:lnSpc>
              <a:spcBef>
                <a:spcPts val="900"/>
              </a:spcBef>
              <a:spcAft>
                <a:spcPts val="0"/>
              </a:spcAft>
              <a:buNone/>
            </a:pPr>
            <a:r>
              <a:t/>
            </a:r>
            <a:endParaRPr b="1"/>
          </a:p>
          <a:p>
            <a:pPr indent="0" lvl="0" marL="0" marR="0" rtl="0" algn="l">
              <a:lnSpc>
                <a:spcPct val="115000"/>
              </a:lnSpc>
              <a:spcBef>
                <a:spcPts val="0"/>
              </a:spcBef>
              <a:spcAft>
                <a:spcPts val="0"/>
              </a:spcAft>
              <a:buNone/>
            </a:pPr>
            <a:r>
              <a:t/>
            </a:r>
            <a:endParaRPr>
              <a:latin typeface="Roboto"/>
              <a:ea typeface="Roboto"/>
              <a:cs typeface="Roboto"/>
              <a:sym typeface="Roboto"/>
            </a:endParaRPr>
          </a:p>
          <a:p>
            <a:pPr indent="0" lvl="0" marL="0" marR="0" rtl="0" algn="l">
              <a:lnSpc>
                <a:spcPct val="115000"/>
              </a:lnSpc>
              <a:spcBef>
                <a:spcPts val="0"/>
              </a:spcBef>
              <a:spcAft>
                <a:spcPts val="0"/>
              </a:spcAft>
              <a:buNone/>
            </a:pPr>
            <a:r>
              <a:t/>
            </a:r>
            <a:endParaRPr>
              <a:latin typeface="Roboto"/>
              <a:ea typeface="Roboto"/>
              <a:cs typeface="Roboto"/>
              <a:sym typeface="Roboto"/>
            </a:endParaRPr>
          </a:p>
          <a:p>
            <a:pPr indent="0" lvl="0" marL="0" marR="0" rtl="0" algn="l">
              <a:lnSpc>
                <a:spcPct val="115000"/>
              </a:lnSpc>
              <a:spcBef>
                <a:spcPts val="0"/>
              </a:spcBef>
              <a:spcAft>
                <a:spcPts val="0"/>
              </a:spcAft>
              <a:buNone/>
            </a:pPr>
            <a:r>
              <a:t/>
            </a:r>
            <a:endParaRPr>
              <a:latin typeface="Roboto"/>
              <a:ea typeface="Roboto"/>
              <a:cs typeface="Roboto"/>
              <a:sym typeface="Roboto"/>
            </a:endParaRPr>
          </a:p>
        </p:txBody>
      </p:sp>
      <p:pic>
        <p:nvPicPr>
          <p:cNvPr id="98" name="Google Shape;98;p16"/>
          <p:cNvPicPr preferRelativeResize="0"/>
          <p:nvPr/>
        </p:nvPicPr>
        <p:blipFill>
          <a:blip r:embed="rId4">
            <a:alphaModFix/>
          </a:blip>
          <a:stretch>
            <a:fillRect/>
          </a:stretch>
        </p:blipFill>
        <p:spPr>
          <a:xfrm>
            <a:off x="295450" y="1309325"/>
            <a:ext cx="371780" cy="371779"/>
          </a:xfrm>
          <a:prstGeom prst="rect">
            <a:avLst/>
          </a:prstGeom>
          <a:noFill/>
          <a:ln>
            <a:noFill/>
          </a:ln>
        </p:spPr>
      </p:pic>
      <p:pic>
        <p:nvPicPr>
          <p:cNvPr id="99" name="Google Shape;99;p16"/>
          <p:cNvPicPr preferRelativeResize="0"/>
          <p:nvPr/>
        </p:nvPicPr>
        <p:blipFill>
          <a:blip r:embed="rId5">
            <a:alphaModFix/>
          </a:blip>
          <a:stretch>
            <a:fillRect/>
          </a:stretch>
        </p:blipFill>
        <p:spPr>
          <a:xfrm>
            <a:off x="295449" y="1686675"/>
            <a:ext cx="371775" cy="371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3" name="Shape 103"/>
        <p:cNvGrpSpPr/>
        <p:nvPr/>
      </p:nvGrpSpPr>
      <p:grpSpPr>
        <a:xfrm>
          <a:off x="0" y="0"/>
          <a:ext cx="0" cy="0"/>
          <a:chOff x="0" y="0"/>
          <a:chExt cx="0" cy="0"/>
        </a:xfrm>
      </p:grpSpPr>
      <p:pic>
        <p:nvPicPr>
          <p:cNvPr id="104" name="Google Shape;104;p17"/>
          <p:cNvPicPr preferRelativeResize="0"/>
          <p:nvPr/>
        </p:nvPicPr>
        <p:blipFill>
          <a:blip r:embed="rId3">
            <a:alphaModFix/>
          </a:blip>
          <a:stretch>
            <a:fillRect/>
          </a:stretch>
        </p:blipFill>
        <p:spPr>
          <a:xfrm>
            <a:off x="0" y="8"/>
            <a:ext cx="9144001" cy="524033"/>
          </a:xfrm>
          <a:prstGeom prst="rect">
            <a:avLst/>
          </a:prstGeom>
          <a:noFill/>
          <a:ln>
            <a:noFill/>
          </a:ln>
        </p:spPr>
      </p:pic>
      <p:sp>
        <p:nvSpPr>
          <p:cNvPr id="105" name="Google Shape;105;p17"/>
          <p:cNvSpPr txBox="1"/>
          <p:nvPr/>
        </p:nvSpPr>
        <p:spPr>
          <a:xfrm>
            <a:off x="0" y="0"/>
            <a:ext cx="8069100" cy="52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p>
        </p:txBody>
      </p:sp>
      <p:sp>
        <p:nvSpPr>
          <p:cNvPr id="106" name="Google Shape;106;p17"/>
          <p:cNvSpPr/>
          <p:nvPr/>
        </p:nvSpPr>
        <p:spPr>
          <a:xfrm>
            <a:off x="2189475" y="846325"/>
            <a:ext cx="2107200" cy="675300"/>
          </a:xfrm>
          <a:prstGeom prst="rect">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rPr>
              <a:t>Data Preprocessing</a:t>
            </a:r>
            <a:endParaRPr b="1" sz="1800">
              <a:solidFill>
                <a:srgbClr val="FFFFFF"/>
              </a:solidFill>
            </a:endParaRPr>
          </a:p>
        </p:txBody>
      </p:sp>
      <p:sp>
        <p:nvSpPr>
          <p:cNvPr id="107" name="Google Shape;107;p17"/>
          <p:cNvSpPr/>
          <p:nvPr/>
        </p:nvSpPr>
        <p:spPr>
          <a:xfrm>
            <a:off x="2189475" y="1979575"/>
            <a:ext cx="2107200" cy="675300"/>
          </a:xfrm>
          <a:prstGeom prst="rect">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rPr>
              <a:t>Model Training</a:t>
            </a:r>
            <a:endParaRPr b="1" sz="1800">
              <a:solidFill>
                <a:srgbClr val="FFFFFF"/>
              </a:solidFill>
            </a:endParaRPr>
          </a:p>
        </p:txBody>
      </p:sp>
      <p:sp>
        <p:nvSpPr>
          <p:cNvPr id="108" name="Google Shape;108;p17"/>
          <p:cNvSpPr/>
          <p:nvPr/>
        </p:nvSpPr>
        <p:spPr>
          <a:xfrm>
            <a:off x="2189475" y="3085299"/>
            <a:ext cx="2107200" cy="611400"/>
          </a:xfrm>
          <a:prstGeom prst="rect">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rPr>
              <a:t>Model Selection</a:t>
            </a:r>
            <a:endParaRPr b="1" sz="1800">
              <a:solidFill>
                <a:srgbClr val="FFFFFF"/>
              </a:solidFill>
            </a:endParaRPr>
          </a:p>
        </p:txBody>
      </p:sp>
      <p:sp>
        <p:nvSpPr>
          <p:cNvPr id="109" name="Google Shape;109;p17"/>
          <p:cNvSpPr txBox="1"/>
          <p:nvPr/>
        </p:nvSpPr>
        <p:spPr>
          <a:xfrm>
            <a:off x="4835725" y="591325"/>
            <a:ext cx="4146600" cy="1185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oboto"/>
              <a:buChar char="●"/>
            </a:pPr>
            <a:r>
              <a:rPr lang="en" sz="1200">
                <a:latin typeface="Roboto"/>
                <a:ea typeface="Roboto"/>
                <a:cs typeface="Roboto"/>
                <a:sym typeface="Roboto"/>
              </a:rPr>
              <a:t>Load Data </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Deal with the missing values</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Encode categorical features and target </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Split the data into Train and Test</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Over sampling</a:t>
            </a:r>
            <a:endParaRPr sz="1200">
              <a:latin typeface="Roboto"/>
              <a:ea typeface="Roboto"/>
              <a:cs typeface="Roboto"/>
              <a:sym typeface="Roboto"/>
            </a:endParaRPr>
          </a:p>
        </p:txBody>
      </p:sp>
      <p:sp>
        <p:nvSpPr>
          <p:cNvPr id="110" name="Google Shape;110;p17"/>
          <p:cNvSpPr txBox="1"/>
          <p:nvPr/>
        </p:nvSpPr>
        <p:spPr>
          <a:xfrm>
            <a:off x="4835725" y="1691450"/>
            <a:ext cx="2416800" cy="1503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oboto"/>
              <a:buChar char="●"/>
            </a:pPr>
            <a:r>
              <a:rPr lang="en" sz="1200">
                <a:latin typeface="Roboto"/>
                <a:ea typeface="Roboto"/>
                <a:cs typeface="Roboto"/>
                <a:sym typeface="Roboto"/>
              </a:rPr>
              <a:t>Logistic regression</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Multilayer perceptron</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Decision tree</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Random Forest</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XGBoosting</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Naive Bayesian</a:t>
            </a:r>
            <a:endParaRPr sz="1200">
              <a:latin typeface="Roboto"/>
              <a:ea typeface="Roboto"/>
              <a:cs typeface="Roboto"/>
              <a:sym typeface="Roboto"/>
            </a:endParaRPr>
          </a:p>
        </p:txBody>
      </p:sp>
      <p:sp>
        <p:nvSpPr>
          <p:cNvPr id="111" name="Google Shape;111;p17"/>
          <p:cNvSpPr txBox="1"/>
          <p:nvPr/>
        </p:nvSpPr>
        <p:spPr>
          <a:xfrm>
            <a:off x="61600" y="675325"/>
            <a:ext cx="20283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Procedure</a:t>
            </a:r>
            <a:endParaRPr b="1" sz="3000">
              <a:latin typeface="Roboto"/>
              <a:ea typeface="Roboto"/>
              <a:cs typeface="Roboto"/>
              <a:sym typeface="Roboto"/>
            </a:endParaRPr>
          </a:p>
        </p:txBody>
      </p:sp>
      <p:cxnSp>
        <p:nvCxnSpPr>
          <p:cNvPr id="112" name="Google Shape;112;p17"/>
          <p:cNvCxnSpPr/>
          <p:nvPr/>
        </p:nvCxnSpPr>
        <p:spPr>
          <a:xfrm>
            <a:off x="3240450" y="1547275"/>
            <a:ext cx="2700" cy="432300"/>
          </a:xfrm>
          <a:prstGeom prst="straightConnector1">
            <a:avLst/>
          </a:prstGeom>
          <a:noFill/>
          <a:ln cap="flat" cmpd="sng" w="28575">
            <a:solidFill>
              <a:schemeClr val="dk2"/>
            </a:solidFill>
            <a:prstDash val="solid"/>
            <a:round/>
            <a:headEnd len="med" w="med" type="none"/>
            <a:tailEnd len="med" w="med" type="triangle"/>
          </a:ln>
        </p:spPr>
      </p:cxnSp>
      <p:cxnSp>
        <p:nvCxnSpPr>
          <p:cNvPr id="113" name="Google Shape;113;p17"/>
          <p:cNvCxnSpPr/>
          <p:nvPr/>
        </p:nvCxnSpPr>
        <p:spPr>
          <a:xfrm>
            <a:off x="3243075" y="2654880"/>
            <a:ext cx="4200" cy="422700"/>
          </a:xfrm>
          <a:prstGeom prst="straightConnector1">
            <a:avLst/>
          </a:prstGeom>
          <a:noFill/>
          <a:ln cap="flat" cmpd="sng" w="28575">
            <a:solidFill>
              <a:schemeClr val="dk2"/>
            </a:solidFill>
            <a:prstDash val="solid"/>
            <a:round/>
            <a:headEnd len="med" w="med" type="none"/>
            <a:tailEnd len="med" w="med" type="triangle"/>
          </a:ln>
        </p:spPr>
      </p:cxnSp>
      <p:sp>
        <p:nvSpPr>
          <p:cNvPr id="114" name="Google Shape;114;p17"/>
          <p:cNvSpPr txBox="1"/>
          <p:nvPr/>
        </p:nvSpPr>
        <p:spPr>
          <a:xfrm>
            <a:off x="4835725" y="3096400"/>
            <a:ext cx="2416800" cy="5241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oboto"/>
              <a:buChar char="●"/>
            </a:pPr>
            <a:r>
              <a:rPr lang="en" sz="1200">
                <a:latin typeface="Roboto"/>
                <a:ea typeface="Roboto"/>
                <a:cs typeface="Roboto"/>
                <a:sym typeface="Roboto"/>
              </a:rPr>
              <a:t>F1 score</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AUC</a:t>
            </a:r>
            <a:endParaRPr sz="1200">
              <a:latin typeface="Roboto"/>
              <a:ea typeface="Roboto"/>
              <a:cs typeface="Roboto"/>
              <a:sym typeface="Roboto"/>
            </a:endParaRPr>
          </a:p>
        </p:txBody>
      </p:sp>
      <p:sp>
        <p:nvSpPr>
          <p:cNvPr id="115" name="Google Shape;115;p17"/>
          <p:cNvSpPr/>
          <p:nvPr/>
        </p:nvSpPr>
        <p:spPr>
          <a:xfrm>
            <a:off x="2238450" y="4162175"/>
            <a:ext cx="2058300" cy="611400"/>
          </a:xfrm>
          <a:prstGeom prst="rect">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rPr>
              <a:t>Feature importance</a:t>
            </a:r>
            <a:endParaRPr b="1" sz="1800">
              <a:solidFill>
                <a:srgbClr val="FFFFFF"/>
              </a:solidFill>
            </a:endParaRPr>
          </a:p>
        </p:txBody>
      </p:sp>
      <p:cxnSp>
        <p:nvCxnSpPr>
          <p:cNvPr id="116" name="Google Shape;116;p17"/>
          <p:cNvCxnSpPr/>
          <p:nvPr/>
        </p:nvCxnSpPr>
        <p:spPr>
          <a:xfrm>
            <a:off x="3243075" y="3721680"/>
            <a:ext cx="4200" cy="422700"/>
          </a:xfrm>
          <a:prstGeom prst="straightConnector1">
            <a:avLst/>
          </a:prstGeom>
          <a:noFill/>
          <a:ln cap="flat" cmpd="sng" w="28575">
            <a:solidFill>
              <a:schemeClr val="dk2"/>
            </a:solidFill>
            <a:prstDash val="solid"/>
            <a:round/>
            <a:headEnd len="med" w="med" type="none"/>
            <a:tailEnd len="med" w="med" type="triangle"/>
          </a:ln>
        </p:spPr>
      </p:cxnSp>
      <p:sp>
        <p:nvSpPr>
          <p:cNvPr id="117" name="Google Shape;117;p17"/>
          <p:cNvSpPr txBox="1"/>
          <p:nvPr/>
        </p:nvSpPr>
        <p:spPr>
          <a:xfrm>
            <a:off x="4553425" y="4205825"/>
            <a:ext cx="2699100" cy="524100"/>
          </a:xfrm>
          <a:prstGeom prst="rect">
            <a:avLst/>
          </a:prstGeom>
          <a:noFill/>
          <a:ln>
            <a:noFill/>
          </a:ln>
        </p:spPr>
        <p:txBody>
          <a:bodyPr anchorCtr="0" anchor="t" bIns="91425" lIns="91425" spcFirstLastPara="1" rIns="91425" wrap="square" tIns="91425">
            <a:noAutofit/>
          </a:bodyPr>
          <a:lstStyle/>
          <a:p>
            <a:pPr indent="-304800" lvl="0" marL="457200" rtl="0" algn="ctr">
              <a:spcBef>
                <a:spcPts val="0"/>
              </a:spcBef>
              <a:spcAft>
                <a:spcPts val="0"/>
              </a:spcAft>
              <a:buSzPts val="1200"/>
              <a:buFont typeface="Roboto"/>
              <a:buChar char="●"/>
            </a:pPr>
            <a:r>
              <a:rPr lang="en" sz="1200">
                <a:latin typeface="Roboto"/>
                <a:ea typeface="Roboto"/>
                <a:cs typeface="Roboto"/>
                <a:sym typeface="Roboto"/>
              </a:rPr>
              <a:t>Random Forest Classifier</a:t>
            </a:r>
            <a:endParaRPr sz="1200">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3">
            <a:alphaModFix/>
          </a:blip>
          <a:stretch>
            <a:fillRect/>
          </a:stretch>
        </p:blipFill>
        <p:spPr>
          <a:xfrm>
            <a:off x="0" y="8"/>
            <a:ext cx="9144001" cy="524033"/>
          </a:xfrm>
          <a:prstGeom prst="rect">
            <a:avLst/>
          </a:prstGeom>
          <a:noFill/>
          <a:ln>
            <a:noFill/>
          </a:ln>
        </p:spPr>
      </p:pic>
      <p:sp>
        <p:nvSpPr>
          <p:cNvPr id="123" name="Google Shape;123;p18"/>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P</a:t>
            </a:r>
            <a:r>
              <a:rPr b="1" lang="en" sz="3000">
                <a:latin typeface="Roboto"/>
                <a:ea typeface="Roboto"/>
                <a:cs typeface="Roboto"/>
                <a:sym typeface="Roboto"/>
              </a:rPr>
              <a:t>reprocessing</a:t>
            </a:r>
            <a:endParaRPr b="1" sz="3000">
              <a:latin typeface="Roboto"/>
              <a:ea typeface="Roboto"/>
              <a:cs typeface="Roboto"/>
              <a:sym typeface="Roboto"/>
            </a:endParaRPr>
          </a:p>
        </p:txBody>
      </p:sp>
      <p:sp>
        <p:nvSpPr>
          <p:cNvPr id="124" name="Google Shape;124;p18"/>
          <p:cNvSpPr txBox="1"/>
          <p:nvPr/>
        </p:nvSpPr>
        <p:spPr>
          <a:xfrm>
            <a:off x="423825" y="1080575"/>
            <a:ext cx="7945200" cy="33783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Roboto"/>
              <a:buChar char="●"/>
            </a:pPr>
            <a:r>
              <a:rPr lang="en" sz="2000">
                <a:latin typeface="Roboto"/>
                <a:ea typeface="Roboto"/>
                <a:cs typeface="Roboto"/>
                <a:sym typeface="Roboto"/>
              </a:rPr>
              <a:t>Load Data </a:t>
            </a:r>
            <a:endParaRPr sz="2000">
              <a:latin typeface="Roboto"/>
              <a:ea typeface="Roboto"/>
              <a:cs typeface="Roboto"/>
              <a:sym typeface="Roboto"/>
            </a:endParaRPr>
          </a:p>
          <a:p>
            <a:pPr indent="-355600" lvl="0" marL="457200" rtl="0" algn="l">
              <a:spcBef>
                <a:spcPts val="0"/>
              </a:spcBef>
              <a:spcAft>
                <a:spcPts val="0"/>
              </a:spcAft>
              <a:buSzPts val="2000"/>
              <a:buFont typeface="Roboto"/>
              <a:buChar char="●"/>
            </a:pPr>
            <a:r>
              <a:rPr lang="en" sz="2000">
                <a:latin typeface="Roboto"/>
                <a:ea typeface="Roboto"/>
                <a:cs typeface="Roboto"/>
                <a:sym typeface="Roboto"/>
              </a:rPr>
              <a:t>Deal with the missing values</a:t>
            </a:r>
            <a:endParaRPr sz="2000">
              <a:latin typeface="Roboto"/>
              <a:ea typeface="Roboto"/>
              <a:cs typeface="Roboto"/>
              <a:sym typeface="Roboto"/>
            </a:endParaRPr>
          </a:p>
          <a:p>
            <a:pPr indent="457200" lvl="0" marL="457200" rtl="0" algn="l">
              <a:spcBef>
                <a:spcPts val="0"/>
              </a:spcBef>
              <a:spcAft>
                <a:spcPts val="0"/>
              </a:spcAft>
              <a:buNone/>
            </a:pPr>
            <a:r>
              <a:rPr lang="en" sz="2000">
                <a:solidFill>
                  <a:srgbClr val="666666"/>
                </a:solidFill>
                <a:latin typeface="Roboto"/>
                <a:ea typeface="Roboto"/>
                <a:cs typeface="Roboto"/>
                <a:sym typeface="Roboto"/>
              </a:rPr>
              <a:t>Drop the columns which missing proportion &gt; 50%</a:t>
            </a:r>
            <a:endParaRPr sz="2000">
              <a:solidFill>
                <a:srgbClr val="666666"/>
              </a:solidFill>
              <a:latin typeface="Roboto"/>
              <a:ea typeface="Roboto"/>
              <a:cs typeface="Roboto"/>
              <a:sym typeface="Roboto"/>
            </a:endParaRPr>
          </a:p>
          <a:p>
            <a:pPr indent="457200" lvl="0" marL="457200" rtl="0" algn="l">
              <a:spcBef>
                <a:spcPts val="0"/>
              </a:spcBef>
              <a:spcAft>
                <a:spcPts val="0"/>
              </a:spcAft>
              <a:buNone/>
            </a:pPr>
            <a:r>
              <a:rPr lang="en" sz="2000">
                <a:solidFill>
                  <a:srgbClr val="666666"/>
                </a:solidFill>
                <a:latin typeface="Roboto"/>
                <a:ea typeface="Roboto"/>
                <a:cs typeface="Roboto"/>
                <a:sym typeface="Roboto"/>
              </a:rPr>
              <a:t>Drop the rows with missing value &gt; 50%</a:t>
            </a:r>
            <a:endParaRPr sz="2000">
              <a:solidFill>
                <a:srgbClr val="666666"/>
              </a:solidFill>
              <a:latin typeface="Roboto"/>
              <a:ea typeface="Roboto"/>
              <a:cs typeface="Roboto"/>
              <a:sym typeface="Roboto"/>
            </a:endParaRPr>
          </a:p>
          <a:p>
            <a:pPr indent="-355600" lvl="0" marL="457200" rtl="0" algn="l">
              <a:spcBef>
                <a:spcPts val="0"/>
              </a:spcBef>
              <a:spcAft>
                <a:spcPts val="0"/>
              </a:spcAft>
              <a:buSzPts val="2000"/>
              <a:buFont typeface="Roboto"/>
              <a:buChar char="●"/>
            </a:pPr>
            <a:r>
              <a:rPr lang="en" sz="2000">
                <a:latin typeface="Roboto"/>
                <a:ea typeface="Roboto"/>
                <a:cs typeface="Roboto"/>
                <a:sym typeface="Roboto"/>
              </a:rPr>
              <a:t>Encode categorical features and target </a:t>
            </a:r>
            <a:endParaRPr sz="2000">
              <a:solidFill>
                <a:srgbClr val="666666"/>
              </a:solidFill>
              <a:latin typeface="Roboto"/>
              <a:ea typeface="Roboto"/>
              <a:cs typeface="Roboto"/>
              <a:sym typeface="Roboto"/>
            </a:endParaRPr>
          </a:p>
          <a:p>
            <a:pPr indent="457200" lvl="0" marL="457200" rtl="0" algn="l">
              <a:spcBef>
                <a:spcPts val="0"/>
              </a:spcBef>
              <a:spcAft>
                <a:spcPts val="0"/>
              </a:spcAft>
              <a:buNone/>
            </a:pPr>
            <a:r>
              <a:rPr lang="en" sz="2000">
                <a:solidFill>
                  <a:srgbClr val="666666"/>
                </a:solidFill>
                <a:latin typeface="Roboto"/>
                <a:ea typeface="Roboto"/>
                <a:cs typeface="Roboto"/>
                <a:sym typeface="Roboto"/>
              </a:rPr>
              <a:t>One-Hot encoding</a:t>
            </a:r>
            <a:endParaRPr sz="2000">
              <a:latin typeface="Roboto"/>
              <a:ea typeface="Roboto"/>
              <a:cs typeface="Roboto"/>
              <a:sym typeface="Roboto"/>
            </a:endParaRPr>
          </a:p>
          <a:p>
            <a:pPr indent="-355600" lvl="0" marL="457200" rtl="0" algn="l">
              <a:spcBef>
                <a:spcPts val="0"/>
              </a:spcBef>
              <a:spcAft>
                <a:spcPts val="0"/>
              </a:spcAft>
              <a:buSzPts val="2000"/>
              <a:buFont typeface="Roboto"/>
              <a:buChar char="●"/>
            </a:pPr>
            <a:r>
              <a:rPr lang="en" sz="2000">
                <a:latin typeface="Roboto"/>
                <a:ea typeface="Roboto"/>
                <a:cs typeface="Roboto"/>
                <a:sym typeface="Roboto"/>
              </a:rPr>
              <a:t>Split the data into Train and Test</a:t>
            </a:r>
            <a:endParaRPr sz="2000">
              <a:latin typeface="Roboto"/>
              <a:ea typeface="Roboto"/>
              <a:cs typeface="Roboto"/>
              <a:sym typeface="Roboto"/>
            </a:endParaRPr>
          </a:p>
          <a:p>
            <a:pPr indent="-355600" lvl="0" marL="457200" rtl="0" algn="l">
              <a:spcBef>
                <a:spcPts val="0"/>
              </a:spcBef>
              <a:spcAft>
                <a:spcPts val="0"/>
              </a:spcAft>
              <a:buSzPts val="2000"/>
              <a:buFont typeface="Roboto"/>
              <a:buChar char="●"/>
            </a:pPr>
            <a:r>
              <a:rPr lang="en" sz="2000">
                <a:latin typeface="Roboto"/>
                <a:ea typeface="Roboto"/>
                <a:cs typeface="Roboto"/>
                <a:sym typeface="Roboto"/>
              </a:rPr>
              <a:t>Over sampling</a:t>
            </a:r>
            <a:endParaRPr sz="2000">
              <a:latin typeface="Roboto"/>
              <a:ea typeface="Roboto"/>
              <a:cs typeface="Roboto"/>
              <a:sym typeface="Roboto"/>
            </a:endParaRPr>
          </a:p>
          <a:p>
            <a:pPr indent="-355600" lvl="0" marL="457200" rtl="0" algn="l">
              <a:spcBef>
                <a:spcPts val="0"/>
              </a:spcBef>
              <a:spcAft>
                <a:spcPts val="0"/>
              </a:spcAft>
              <a:buSzPts val="2000"/>
              <a:buFont typeface="Roboto"/>
              <a:buChar char="●"/>
            </a:pPr>
            <a:r>
              <a:rPr lang="en" sz="2000">
                <a:latin typeface="Roboto"/>
                <a:ea typeface="Roboto"/>
                <a:cs typeface="Roboto"/>
                <a:sym typeface="Roboto"/>
              </a:rPr>
              <a:t>Standardization</a:t>
            </a:r>
            <a:endParaRPr sz="2000">
              <a:latin typeface="Roboto"/>
              <a:ea typeface="Roboto"/>
              <a:cs typeface="Roboto"/>
              <a:sym typeface="Roboto"/>
            </a:endParaRPr>
          </a:p>
        </p:txBody>
      </p:sp>
      <p:sp>
        <p:nvSpPr>
          <p:cNvPr id="125" name="Google Shape;125;p18"/>
          <p:cNvSpPr txBox="1"/>
          <p:nvPr/>
        </p:nvSpPr>
        <p:spPr>
          <a:xfrm>
            <a:off x="594575" y="4375350"/>
            <a:ext cx="7324800" cy="455100"/>
          </a:xfrm>
          <a:prstGeom prst="rect">
            <a:avLst/>
          </a:prstGeom>
          <a:solidFill>
            <a:srgbClr val="FF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Roboto"/>
                <a:ea typeface="Roboto"/>
                <a:cs typeface="Roboto"/>
                <a:sym typeface="Roboto"/>
              </a:rPr>
              <a:t>→ The dataset became 125278 rows x 187 columns </a:t>
            </a:r>
            <a:endParaRPr b="1" sz="2400">
              <a:latin typeface="Roboto"/>
              <a:ea typeface="Roboto"/>
              <a:cs typeface="Roboto"/>
              <a:sym typeface="Roboto"/>
            </a:endParaRPr>
          </a:p>
        </p:txBody>
      </p:sp>
      <p:pic>
        <p:nvPicPr>
          <p:cNvPr id="126" name="Google Shape;126;p18"/>
          <p:cNvPicPr preferRelativeResize="0"/>
          <p:nvPr/>
        </p:nvPicPr>
        <p:blipFill>
          <a:blip r:embed="rId4">
            <a:alphaModFix/>
          </a:blip>
          <a:stretch>
            <a:fillRect/>
          </a:stretch>
        </p:blipFill>
        <p:spPr>
          <a:xfrm>
            <a:off x="6172901" y="2085450"/>
            <a:ext cx="2741401" cy="2026604"/>
          </a:xfrm>
          <a:prstGeom prst="rect">
            <a:avLst/>
          </a:prstGeom>
          <a:noFill/>
          <a:ln>
            <a:noFill/>
          </a:ln>
        </p:spPr>
      </p:pic>
      <p:sp>
        <p:nvSpPr>
          <p:cNvPr id="127" name="Google Shape;127;p18"/>
          <p:cNvSpPr/>
          <p:nvPr/>
        </p:nvSpPr>
        <p:spPr>
          <a:xfrm>
            <a:off x="7702600" y="1369200"/>
            <a:ext cx="1276800" cy="524100"/>
          </a:xfrm>
          <a:prstGeom prst="wedgeRoundRectCallout">
            <a:avLst>
              <a:gd fmla="val -20833" name="adj1"/>
              <a:gd fmla="val 62500" name="adj2"/>
              <a:gd fmla="val 0" name="adj3"/>
            </a:avLst>
          </a:prstGeom>
          <a:solidFill>
            <a:srgbClr val="FFD966"/>
          </a:solidFill>
          <a:ln cap="flat" cmpd="sng" w="9525">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Imbalanced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1" name="Shape 131"/>
        <p:cNvGrpSpPr/>
        <p:nvPr/>
      </p:nvGrpSpPr>
      <p:grpSpPr>
        <a:xfrm>
          <a:off x="0" y="0"/>
          <a:ext cx="0" cy="0"/>
          <a:chOff x="0" y="0"/>
          <a:chExt cx="0" cy="0"/>
        </a:xfrm>
      </p:grpSpPr>
      <p:pic>
        <p:nvPicPr>
          <p:cNvPr id="132" name="Google Shape;132;p19"/>
          <p:cNvPicPr preferRelativeResize="0"/>
          <p:nvPr/>
        </p:nvPicPr>
        <p:blipFill>
          <a:blip r:embed="rId3">
            <a:alphaModFix/>
          </a:blip>
          <a:stretch>
            <a:fillRect/>
          </a:stretch>
        </p:blipFill>
        <p:spPr>
          <a:xfrm>
            <a:off x="0" y="8"/>
            <a:ext cx="9144001" cy="524033"/>
          </a:xfrm>
          <a:prstGeom prst="rect">
            <a:avLst/>
          </a:prstGeom>
          <a:noFill/>
          <a:ln>
            <a:noFill/>
          </a:ln>
        </p:spPr>
      </p:pic>
      <p:sp>
        <p:nvSpPr>
          <p:cNvPr id="133" name="Google Shape;133;p19"/>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Model training</a:t>
            </a:r>
            <a:endParaRPr b="1" sz="3000">
              <a:latin typeface="Roboto"/>
              <a:ea typeface="Roboto"/>
              <a:cs typeface="Roboto"/>
              <a:sym typeface="Roboto"/>
            </a:endParaRPr>
          </a:p>
        </p:txBody>
      </p:sp>
      <p:graphicFrame>
        <p:nvGraphicFramePr>
          <p:cNvPr id="134" name="Google Shape;134;p19"/>
          <p:cNvGraphicFramePr/>
          <p:nvPr/>
        </p:nvGraphicFramePr>
        <p:xfrm>
          <a:off x="610325" y="1495675"/>
          <a:ext cx="3000000" cy="3000000"/>
        </p:xfrm>
        <a:graphic>
          <a:graphicData uri="http://schemas.openxmlformats.org/drawingml/2006/table">
            <a:tbl>
              <a:tblPr>
                <a:noFill/>
                <a:tableStyleId>{044FD1A5-E3C2-40FB-A460-BEEEB137DB11}</a:tableStyleId>
              </a:tblPr>
              <a:tblGrid>
                <a:gridCol w="3640725"/>
                <a:gridCol w="3969625"/>
              </a:tblGrid>
              <a:tr h="330775">
                <a:tc>
                  <a:txBody>
                    <a:bodyPr/>
                    <a:lstStyle/>
                    <a:p>
                      <a:pPr indent="0" lvl="0" marL="0" rtl="0" algn="l">
                        <a:spcBef>
                          <a:spcPts val="0"/>
                        </a:spcBef>
                        <a:spcAft>
                          <a:spcPts val="0"/>
                        </a:spcAft>
                        <a:buNone/>
                      </a:pPr>
                      <a:r>
                        <a:rPr b="1" lang="en" sz="2400">
                          <a:solidFill>
                            <a:srgbClr val="FFFFFF"/>
                          </a:solidFill>
                        </a:rPr>
                        <a:t>Models </a:t>
                      </a:r>
                      <a:endParaRPr b="1" sz="2400">
                        <a:solidFill>
                          <a:srgbClr val="FFFFFF"/>
                        </a:solidFill>
                      </a:endParaRPr>
                    </a:p>
                  </a:txBody>
                  <a:tcPr marT="91425" marB="91425" marR="91425" marL="91425">
                    <a:lnB cap="flat" cmpd="sng" w="9525">
                      <a:solidFill>
                        <a:srgbClr val="3C78D8"/>
                      </a:solidFill>
                      <a:prstDash val="solid"/>
                      <a:round/>
                      <a:headEnd len="sm" w="sm" type="none"/>
                      <a:tailEnd len="sm" w="sm" type="none"/>
                    </a:lnB>
                    <a:solidFill>
                      <a:srgbClr val="1155CC"/>
                    </a:solidFill>
                  </a:tcPr>
                </a:tc>
                <a:tc>
                  <a:txBody>
                    <a:bodyPr/>
                    <a:lstStyle/>
                    <a:p>
                      <a:pPr indent="0" lvl="0" marL="0" rtl="0" algn="l">
                        <a:spcBef>
                          <a:spcPts val="0"/>
                        </a:spcBef>
                        <a:spcAft>
                          <a:spcPts val="0"/>
                        </a:spcAft>
                        <a:buNone/>
                      </a:pPr>
                      <a:r>
                        <a:rPr b="1" lang="en" sz="2400">
                          <a:solidFill>
                            <a:srgbClr val="FFFFFF"/>
                          </a:solidFill>
                        </a:rPr>
                        <a:t>Methods</a:t>
                      </a:r>
                      <a:endParaRPr b="1" sz="2400">
                        <a:solidFill>
                          <a:srgbClr val="FFFFFF"/>
                        </a:solidFill>
                      </a:endParaRPr>
                    </a:p>
                  </a:txBody>
                  <a:tcPr marT="91425" marB="91425" marR="91425" marL="91425">
                    <a:lnB cap="flat" cmpd="sng" w="9525">
                      <a:solidFill>
                        <a:srgbClr val="3C78D8"/>
                      </a:solidFill>
                      <a:prstDash val="solid"/>
                      <a:round/>
                      <a:headEnd len="sm" w="sm" type="none"/>
                      <a:tailEnd len="sm" w="sm" type="none"/>
                    </a:lnB>
                    <a:solidFill>
                      <a:srgbClr val="1155CC"/>
                    </a:solidFill>
                  </a:tcPr>
                </a:tc>
              </a:tr>
              <a:tr h="2181825">
                <a:tc>
                  <a:txBody>
                    <a:bodyPr/>
                    <a:lstStyle/>
                    <a:p>
                      <a:pPr indent="-381000" lvl="0" marL="457200" rtl="0" algn="l">
                        <a:lnSpc>
                          <a:spcPct val="115000"/>
                        </a:lnSpc>
                        <a:spcBef>
                          <a:spcPts val="0"/>
                        </a:spcBef>
                        <a:spcAft>
                          <a:spcPts val="0"/>
                        </a:spcAft>
                        <a:buSzPts val="2400"/>
                        <a:buFont typeface="Roboto"/>
                        <a:buChar char="●"/>
                      </a:pPr>
                      <a:r>
                        <a:rPr lang="en" sz="2400">
                          <a:latin typeface="Roboto"/>
                          <a:ea typeface="Roboto"/>
                          <a:cs typeface="Roboto"/>
                          <a:sym typeface="Roboto"/>
                        </a:rPr>
                        <a:t>Logistic regression</a:t>
                      </a:r>
                      <a:endParaRPr sz="2400">
                        <a:latin typeface="Roboto"/>
                        <a:ea typeface="Roboto"/>
                        <a:cs typeface="Roboto"/>
                        <a:sym typeface="Roboto"/>
                      </a:endParaRPr>
                    </a:p>
                    <a:p>
                      <a:pPr indent="-381000" lvl="0" marL="457200" rtl="0" algn="l">
                        <a:lnSpc>
                          <a:spcPct val="115000"/>
                        </a:lnSpc>
                        <a:spcBef>
                          <a:spcPts val="0"/>
                        </a:spcBef>
                        <a:spcAft>
                          <a:spcPts val="0"/>
                        </a:spcAft>
                        <a:buSzPts val="2400"/>
                        <a:buFont typeface="Roboto"/>
                        <a:buChar char="●"/>
                      </a:pPr>
                      <a:r>
                        <a:rPr lang="en" sz="2400">
                          <a:latin typeface="Roboto"/>
                          <a:ea typeface="Roboto"/>
                          <a:cs typeface="Roboto"/>
                          <a:sym typeface="Roboto"/>
                        </a:rPr>
                        <a:t>Multilayer perceptron</a:t>
                      </a:r>
                      <a:endParaRPr sz="2400">
                        <a:latin typeface="Roboto"/>
                        <a:ea typeface="Roboto"/>
                        <a:cs typeface="Roboto"/>
                        <a:sym typeface="Roboto"/>
                      </a:endParaRPr>
                    </a:p>
                    <a:p>
                      <a:pPr indent="-381000" lvl="0" marL="457200" rtl="0" algn="l">
                        <a:lnSpc>
                          <a:spcPct val="115000"/>
                        </a:lnSpc>
                        <a:spcBef>
                          <a:spcPts val="0"/>
                        </a:spcBef>
                        <a:spcAft>
                          <a:spcPts val="0"/>
                        </a:spcAft>
                        <a:buSzPts val="2400"/>
                        <a:buFont typeface="Roboto"/>
                        <a:buChar char="●"/>
                      </a:pPr>
                      <a:r>
                        <a:rPr lang="en" sz="2400">
                          <a:latin typeface="Roboto"/>
                          <a:ea typeface="Roboto"/>
                          <a:cs typeface="Roboto"/>
                          <a:sym typeface="Roboto"/>
                        </a:rPr>
                        <a:t>Decision tree</a:t>
                      </a:r>
                      <a:endParaRPr sz="2400">
                        <a:latin typeface="Roboto"/>
                        <a:ea typeface="Roboto"/>
                        <a:cs typeface="Roboto"/>
                        <a:sym typeface="Roboto"/>
                      </a:endParaRPr>
                    </a:p>
                    <a:p>
                      <a:pPr indent="-381000" lvl="0" marL="457200" rtl="0" algn="l">
                        <a:lnSpc>
                          <a:spcPct val="115000"/>
                        </a:lnSpc>
                        <a:spcBef>
                          <a:spcPts val="0"/>
                        </a:spcBef>
                        <a:spcAft>
                          <a:spcPts val="0"/>
                        </a:spcAft>
                        <a:buSzPts val="2400"/>
                        <a:buFont typeface="Roboto"/>
                        <a:buChar char="●"/>
                      </a:pPr>
                      <a:r>
                        <a:rPr lang="en" sz="2400">
                          <a:latin typeface="Roboto"/>
                          <a:ea typeface="Roboto"/>
                          <a:cs typeface="Roboto"/>
                          <a:sym typeface="Roboto"/>
                        </a:rPr>
                        <a:t>Random Forest</a:t>
                      </a:r>
                      <a:endParaRPr sz="2400">
                        <a:latin typeface="Roboto"/>
                        <a:ea typeface="Roboto"/>
                        <a:cs typeface="Roboto"/>
                        <a:sym typeface="Roboto"/>
                      </a:endParaRPr>
                    </a:p>
                    <a:p>
                      <a:pPr indent="-381000" lvl="0" marL="457200" rtl="0" algn="l">
                        <a:lnSpc>
                          <a:spcPct val="115000"/>
                        </a:lnSpc>
                        <a:spcBef>
                          <a:spcPts val="0"/>
                        </a:spcBef>
                        <a:spcAft>
                          <a:spcPts val="0"/>
                        </a:spcAft>
                        <a:buSzPts val="2400"/>
                        <a:buFont typeface="Roboto"/>
                        <a:buChar char="●"/>
                      </a:pPr>
                      <a:r>
                        <a:rPr lang="en" sz="2400">
                          <a:latin typeface="Roboto"/>
                          <a:ea typeface="Roboto"/>
                          <a:cs typeface="Roboto"/>
                          <a:sym typeface="Roboto"/>
                        </a:rPr>
                        <a:t>XGBoosting</a:t>
                      </a:r>
                      <a:endParaRPr sz="2400">
                        <a:latin typeface="Roboto"/>
                        <a:ea typeface="Roboto"/>
                        <a:cs typeface="Roboto"/>
                        <a:sym typeface="Roboto"/>
                      </a:endParaRPr>
                    </a:p>
                    <a:p>
                      <a:pPr indent="-381000" lvl="0" marL="457200" rtl="0" algn="l">
                        <a:lnSpc>
                          <a:spcPct val="115000"/>
                        </a:lnSpc>
                        <a:spcBef>
                          <a:spcPts val="0"/>
                        </a:spcBef>
                        <a:spcAft>
                          <a:spcPts val="0"/>
                        </a:spcAft>
                        <a:buSzPts val="2400"/>
                        <a:buFont typeface="Roboto"/>
                        <a:buChar char="●"/>
                      </a:pPr>
                      <a:r>
                        <a:rPr lang="en" sz="2400">
                          <a:latin typeface="Roboto"/>
                          <a:ea typeface="Roboto"/>
                          <a:cs typeface="Roboto"/>
                          <a:sym typeface="Roboto"/>
                        </a:rPr>
                        <a:t>KNN</a:t>
                      </a:r>
                      <a:endParaRPr sz="2400">
                        <a:latin typeface="Roboto"/>
                        <a:ea typeface="Roboto"/>
                        <a:cs typeface="Roboto"/>
                        <a:sym typeface="Roboto"/>
                      </a:endParaRPr>
                    </a:p>
                  </a:txBody>
                  <a:tcPr marT="91425" marB="91425" marR="91425" marL="91425">
                    <a:lnL cap="flat" cmpd="sng" w="9525">
                      <a:solidFill>
                        <a:srgbClr val="3C78D8"/>
                      </a:solidFill>
                      <a:prstDash val="solid"/>
                      <a:round/>
                      <a:headEnd len="sm" w="sm" type="none"/>
                      <a:tailEnd len="sm" w="sm" type="none"/>
                    </a:lnL>
                    <a:lnR cap="flat" cmpd="sng" w="9525">
                      <a:solidFill>
                        <a:srgbClr val="3C78D8"/>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tcPr>
                </a:tc>
                <a:tc>
                  <a:txBody>
                    <a:bodyPr/>
                    <a:lstStyle/>
                    <a:p>
                      <a:pPr indent="-381000" lvl="0" marL="457200" rtl="0" algn="l">
                        <a:lnSpc>
                          <a:spcPct val="115000"/>
                        </a:lnSpc>
                        <a:spcBef>
                          <a:spcPts val="0"/>
                        </a:spcBef>
                        <a:spcAft>
                          <a:spcPts val="0"/>
                        </a:spcAft>
                        <a:buSzPts val="2400"/>
                        <a:buFont typeface="Roboto"/>
                        <a:buChar char="●"/>
                      </a:pPr>
                      <a:r>
                        <a:rPr lang="en" sz="2400">
                          <a:latin typeface="Roboto"/>
                          <a:ea typeface="Roboto"/>
                          <a:cs typeface="Roboto"/>
                          <a:sym typeface="Roboto"/>
                        </a:rPr>
                        <a:t>Hyper parameter tuning</a:t>
                      </a:r>
                      <a:endParaRPr sz="2400">
                        <a:latin typeface="Roboto"/>
                        <a:ea typeface="Roboto"/>
                        <a:cs typeface="Roboto"/>
                        <a:sym typeface="Roboto"/>
                      </a:endParaRPr>
                    </a:p>
                    <a:p>
                      <a:pPr indent="-381000" lvl="0" marL="457200" rtl="0" algn="l">
                        <a:lnSpc>
                          <a:spcPct val="115000"/>
                        </a:lnSpc>
                        <a:spcBef>
                          <a:spcPts val="0"/>
                        </a:spcBef>
                        <a:spcAft>
                          <a:spcPts val="0"/>
                        </a:spcAft>
                        <a:buSzPts val="2400"/>
                        <a:buFont typeface="Roboto"/>
                        <a:buChar char="●"/>
                      </a:pPr>
                      <a:r>
                        <a:rPr lang="en" sz="2400">
                          <a:latin typeface="Roboto"/>
                          <a:ea typeface="Roboto"/>
                          <a:cs typeface="Roboto"/>
                          <a:sym typeface="Roboto"/>
                        </a:rPr>
                        <a:t>Cross validation</a:t>
                      </a:r>
                      <a:endParaRPr sz="2400">
                        <a:latin typeface="Roboto"/>
                        <a:ea typeface="Roboto"/>
                        <a:cs typeface="Roboto"/>
                        <a:sym typeface="Roboto"/>
                      </a:endParaRPr>
                    </a:p>
                    <a:p>
                      <a:pPr indent="0" lvl="0" marL="914400" rtl="0" algn="l">
                        <a:lnSpc>
                          <a:spcPct val="115000"/>
                        </a:lnSpc>
                        <a:spcBef>
                          <a:spcPts val="0"/>
                        </a:spcBef>
                        <a:spcAft>
                          <a:spcPts val="0"/>
                        </a:spcAft>
                        <a:buNone/>
                      </a:pPr>
                      <a:r>
                        <a:rPr lang="en" sz="2400">
                          <a:solidFill>
                            <a:srgbClr val="666666"/>
                          </a:solidFill>
                          <a:latin typeface="Roboto"/>
                          <a:ea typeface="Roboto"/>
                          <a:cs typeface="Roboto"/>
                          <a:sym typeface="Roboto"/>
                        </a:rPr>
                        <a:t>10 folds</a:t>
                      </a:r>
                      <a:endParaRPr sz="2400">
                        <a:latin typeface="Roboto"/>
                        <a:ea typeface="Roboto"/>
                        <a:cs typeface="Roboto"/>
                        <a:sym typeface="Roboto"/>
                      </a:endParaRPr>
                    </a:p>
                    <a:p>
                      <a:pPr indent="-381000" lvl="0" marL="457200" rtl="0" algn="l">
                        <a:lnSpc>
                          <a:spcPct val="115000"/>
                        </a:lnSpc>
                        <a:spcBef>
                          <a:spcPts val="0"/>
                        </a:spcBef>
                        <a:spcAft>
                          <a:spcPts val="0"/>
                        </a:spcAft>
                        <a:buSzPts val="2400"/>
                        <a:buFont typeface="Roboto"/>
                        <a:buChar char="●"/>
                      </a:pPr>
                      <a:r>
                        <a:rPr lang="en" sz="2400">
                          <a:latin typeface="Roboto"/>
                          <a:ea typeface="Roboto"/>
                          <a:cs typeface="Roboto"/>
                          <a:sym typeface="Roboto"/>
                        </a:rPr>
                        <a:t>F1 score</a:t>
                      </a:r>
                      <a:endParaRPr sz="2400">
                        <a:latin typeface="Roboto"/>
                        <a:ea typeface="Roboto"/>
                        <a:cs typeface="Roboto"/>
                        <a:sym typeface="Roboto"/>
                      </a:endParaRPr>
                    </a:p>
                    <a:p>
                      <a:pPr indent="-381000" lvl="0" marL="457200" rtl="0" algn="l">
                        <a:lnSpc>
                          <a:spcPct val="115000"/>
                        </a:lnSpc>
                        <a:spcBef>
                          <a:spcPts val="0"/>
                        </a:spcBef>
                        <a:spcAft>
                          <a:spcPts val="0"/>
                        </a:spcAft>
                        <a:buSzPts val="2400"/>
                        <a:buFont typeface="Roboto"/>
                        <a:buChar char="●"/>
                      </a:pPr>
                      <a:r>
                        <a:rPr lang="en" sz="2400">
                          <a:latin typeface="Roboto"/>
                          <a:ea typeface="Roboto"/>
                          <a:cs typeface="Roboto"/>
                          <a:sym typeface="Roboto"/>
                        </a:rPr>
                        <a:t>Confusion Matrix/ AUC/ROC</a:t>
                      </a:r>
                      <a:endParaRPr sz="2400">
                        <a:latin typeface="Roboto"/>
                        <a:ea typeface="Roboto"/>
                        <a:cs typeface="Roboto"/>
                        <a:sym typeface="Roboto"/>
                      </a:endParaRPr>
                    </a:p>
                  </a:txBody>
                  <a:tcPr marT="91425" marB="91425" marR="91425" marL="91425">
                    <a:lnL cap="flat" cmpd="sng" w="9525">
                      <a:solidFill>
                        <a:srgbClr val="3C78D8"/>
                      </a:solidFill>
                      <a:prstDash val="solid"/>
                      <a:round/>
                      <a:headEnd len="sm" w="sm" type="none"/>
                      <a:tailEnd len="sm" w="sm" type="none"/>
                    </a:lnL>
                    <a:lnR cap="flat" cmpd="sng" w="9525">
                      <a:solidFill>
                        <a:srgbClr val="3C78D8"/>
                      </a:solidFill>
                      <a:prstDash val="solid"/>
                      <a:round/>
                      <a:headEnd len="sm" w="sm" type="none"/>
                      <a:tailEnd len="sm" w="sm" type="none"/>
                    </a:lnR>
                    <a:lnT cap="flat" cmpd="sng" w="9525">
                      <a:solidFill>
                        <a:srgbClr val="3C78D8"/>
                      </a:solidFill>
                      <a:prstDash val="solid"/>
                      <a:round/>
                      <a:headEnd len="sm" w="sm" type="none"/>
                      <a:tailEnd len="sm" w="sm" type="none"/>
                    </a:lnT>
                    <a:lnB cap="flat" cmpd="sng" w="9525">
                      <a:solidFill>
                        <a:srgbClr val="3C78D8"/>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8" name="Shape 138"/>
        <p:cNvGrpSpPr/>
        <p:nvPr/>
      </p:nvGrpSpPr>
      <p:grpSpPr>
        <a:xfrm>
          <a:off x="0" y="0"/>
          <a:ext cx="0" cy="0"/>
          <a:chOff x="0" y="0"/>
          <a:chExt cx="0" cy="0"/>
        </a:xfrm>
      </p:grpSpPr>
      <p:pic>
        <p:nvPicPr>
          <p:cNvPr id="139" name="Google Shape;139;p20"/>
          <p:cNvPicPr preferRelativeResize="0"/>
          <p:nvPr/>
        </p:nvPicPr>
        <p:blipFill>
          <a:blip r:embed="rId3">
            <a:alphaModFix/>
          </a:blip>
          <a:stretch>
            <a:fillRect/>
          </a:stretch>
        </p:blipFill>
        <p:spPr>
          <a:xfrm>
            <a:off x="0" y="8"/>
            <a:ext cx="9144001" cy="524033"/>
          </a:xfrm>
          <a:prstGeom prst="rect">
            <a:avLst/>
          </a:prstGeom>
          <a:noFill/>
          <a:ln>
            <a:noFill/>
          </a:ln>
        </p:spPr>
      </p:pic>
      <p:sp>
        <p:nvSpPr>
          <p:cNvPr id="140" name="Google Shape;140;p20"/>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Why we use F1 score?</a:t>
            </a:r>
            <a:endParaRPr b="1" sz="3000">
              <a:latin typeface="Roboto"/>
              <a:ea typeface="Roboto"/>
              <a:cs typeface="Roboto"/>
              <a:sym typeface="Roboto"/>
            </a:endParaRPr>
          </a:p>
        </p:txBody>
      </p:sp>
      <p:graphicFrame>
        <p:nvGraphicFramePr>
          <p:cNvPr id="141" name="Google Shape;141;p20"/>
          <p:cNvGraphicFramePr/>
          <p:nvPr/>
        </p:nvGraphicFramePr>
        <p:xfrm>
          <a:off x="86425" y="1651050"/>
          <a:ext cx="3000000" cy="3000000"/>
        </p:xfrm>
        <a:graphic>
          <a:graphicData uri="http://schemas.openxmlformats.org/drawingml/2006/table">
            <a:tbl>
              <a:tblPr>
                <a:noFill/>
                <a:tableStyleId>{044FD1A5-E3C2-40FB-A460-BEEEB137DB11}</a:tableStyleId>
              </a:tblPr>
              <a:tblGrid>
                <a:gridCol w="1046550"/>
                <a:gridCol w="1371325"/>
                <a:gridCol w="1371275"/>
              </a:tblGrid>
              <a:tr h="568500">
                <a:tc>
                  <a:txBody>
                    <a:bodyPr/>
                    <a:lstStyle/>
                    <a:p>
                      <a:pPr indent="0" lvl="0" marL="0" rtl="0" algn="ctr">
                        <a:spcBef>
                          <a:spcPts val="0"/>
                        </a:spcBef>
                        <a:spcAft>
                          <a:spcPts val="0"/>
                        </a:spcAft>
                        <a:buNone/>
                      </a:pPr>
                      <a:r>
                        <a:t/>
                      </a:r>
                      <a:endParaRPr b="1" sz="2000"/>
                    </a:p>
                  </a:txBody>
                  <a:tcPr marT="91425" marB="91425" marR="91425" marL="91425" anchor="ctr">
                    <a:lnL cap="flat" cmpd="sng" w="19050">
                      <a:solidFill>
                        <a:srgbClr val="FFFFFF">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2000"/>
                        <a:t>Predicted</a:t>
                      </a:r>
                      <a:endParaRPr b="1" sz="2000"/>
                    </a:p>
                    <a:p>
                      <a:pPr indent="0" lvl="0" marL="0" rtl="0" algn="ctr">
                        <a:spcBef>
                          <a:spcPts val="0"/>
                        </a:spcBef>
                        <a:spcAft>
                          <a:spcPts val="0"/>
                        </a:spcAft>
                        <a:buNone/>
                      </a:pPr>
                      <a:r>
                        <a:rPr b="1" lang="en"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2000"/>
                        <a:t>Predicted</a:t>
                      </a:r>
                      <a:endParaRPr b="1" sz="2000"/>
                    </a:p>
                    <a:p>
                      <a:pPr indent="0" lvl="0" marL="0" rtl="0" algn="ctr">
                        <a:spcBef>
                          <a:spcPts val="0"/>
                        </a:spcBef>
                        <a:spcAft>
                          <a:spcPts val="0"/>
                        </a:spcAft>
                        <a:buNone/>
                      </a:pPr>
                      <a:r>
                        <a:rPr b="1" lang="en"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8500">
                <a:tc>
                  <a:txBody>
                    <a:bodyPr/>
                    <a:lstStyle/>
                    <a:p>
                      <a:pPr indent="0" lvl="0" marL="0" rtl="0" algn="ctr">
                        <a:spcBef>
                          <a:spcPts val="0"/>
                        </a:spcBef>
                        <a:spcAft>
                          <a:spcPts val="0"/>
                        </a:spcAft>
                        <a:buNone/>
                      </a:pPr>
                      <a:r>
                        <a:rPr b="1" lang="en" sz="2000"/>
                        <a:t>Actual </a:t>
                      </a:r>
                      <a:endParaRPr b="1" sz="2000"/>
                    </a:p>
                    <a:p>
                      <a:pPr indent="0" lvl="0" marL="0" rtl="0" algn="ctr">
                        <a:spcBef>
                          <a:spcPts val="0"/>
                        </a:spcBef>
                        <a:spcAft>
                          <a:spcPts val="0"/>
                        </a:spcAft>
                        <a:buNone/>
                      </a:pPr>
                      <a:r>
                        <a:rPr b="1" lang="en" sz="2000"/>
                        <a:t>0</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2000"/>
                        <a:t>TN</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FF"/>
                    </a:solidFill>
                  </a:tcPr>
                </a:tc>
                <a:tc>
                  <a:txBody>
                    <a:bodyPr/>
                    <a:lstStyle/>
                    <a:p>
                      <a:pPr indent="0" lvl="0" marL="0" rtl="0" algn="ctr">
                        <a:spcBef>
                          <a:spcPts val="0"/>
                        </a:spcBef>
                        <a:spcAft>
                          <a:spcPts val="0"/>
                        </a:spcAft>
                        <a:buNone/>
                      </a:pPr>
                      <a:r>
                        <a:rPr b="1" lang="en" sz="2000"/>
                        <a:t>FP</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8500">
                <a:tc>
                  <a:txBody>
                    <a:bodyPr/>
                    <a:lstStyle/>
                    <a:p>
                      <a:pPr indent="0" lvl="0" marL="0" rtl="0" algn="ctr">
                        <a:spcBef>
                          <a:spcPts val="0"/>
                        </a:spcBef>
                        <a:spcAft>
                          <a:spcPts val="0"/>
                        </a:spcAft>
                        <a:buNone/>
                      </a:pPr>
                      <a:r>
                        <a:rPr b="1" lang="en" sz="2000"/>
                        <a:t>Actual</a:t>
                      </a:r>
                      <a:endParaRPr b="1" sz="2000"/>
                    </a:p>
                    <a:p>
                      <a:pPr indent="0" lvl="0" marL="0" rtl="0" algn="ctr">
                        <a:spcBef>
                          <a:spcPts val="0"/>
                        </a:spcBef>
                        <a:spcAft>
                          <a:spcPts val="0"/>
                        </a:spcAft>
                        <a:buNone/>
                      </a:pPr>
                      <a:r>
                        <a:rPr b="1" lang="en" sz="2000"/>
                        <a:t>1</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2000"/>
                        <a:t>FN</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2000"/>
                        <a:t>TP</a:t>
                      </a:r>
                      <a:endParaRPr b="1" sz="2000"/>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00FF"/>
                    </a:solidFill>
                  </a:tcPr>
                </a:tc>
              </a:tr>
            </a:tbl>
          </a:graphicData>
        </a:graphic>
      </p:graphicFrame>
      <p:sp>
        <p:nvSpPr>
          <p:cNvPr id="142" name="Google Shape;142;p20"/>
          <p:cNvSpPr txBox="1"/>
          <p:nvPr/>
        </p:nvSpPr>
        <p:spPr>
          <a:xfrm>
            <a:off x="4110650" y="1563250"/>
            <a:ext cx="5009400" cy="121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latin typeface="Roboto"/>
                <a:ea typeface="Roboto"/>
                <a:cs typeface="Roboto"/>
                <a:sym typeface="Roboto"/>
              </a:rPr>
              <a:t>Accuracy = (TP + TN)/Total Samples</a:t>
            </a:r>
            <a:endParaRPr sz="1600">
              <a:latin typeface="Roboto"/>
              <a:ea typeface="Roboto"/>
              <a:cs typeface="Roboto"/>
              <a:sym typeface="Roboto"/>
            </a:endParaRPr>
          </a:p>
          <a:p>
            <a:pPr indent="0" lvl="0" marL="0" rtl="0" algn="l">
              <a:lnSpc>
                <a:spcPct val="115000"/>
              </a:lnSpc>
              <a:spcBef>
                <a:spcPts val="0"/>
              </a:spcBef>
              <a:spcAft>
                <a:spcPts val="0"/>
              </a:spcAft>
              <a:buNone/>
            </a:pPr>
            <a:r>
              <a:rPr lang="en" sz="1600">
                <a:latin typeface="Roboto"/>
                <a:ea typeface="Roboto"/>
                <a:cs typeface="Roboto"/>
                <a:sym typeface="Roboto"/>
              </a:rPr>
              <a:t>Precision = TP / (TP + FP) </a:t>
            </a:r>
            <a:endParaRPr sz="1600">
              <a:latin typeface="Roboto"/>
              <a:ea typeface="Roboto"/>
              <a:cs typeface="Roboto"/>
              <a:sym typeface="Roboto"/>
            </a:endParaRPr>
          </a:p>
          <a:p>
            <a:pPr indent="0" lvl="0" marL="0" rtl="0" algn="l">
              <a:lnSpc>
                <a:spcPct val="115000"/>
              </a:lnSpc>
              <a:spcBef>
                <a:spcPts val="0"/>
              </a:spcBef>
              <a:spcAft>
                <a:spcPts val="0"/>
              </a:spcAft>
              <a:buNone/>
            </a:pPr>
            <a:r>
              <a:rPr lang="en" sz="1600">
                <a:latin typeface="Roboto"/>
                <a:ea typeface="Roboto"/>
                <a:cs typeface="Roboto"/>
                <a:sym typeface="Roboto"/>
              </a:rPr>
              <a:t>Recall = TP / (TP + FN)</a:t>
            </a:r>
            <a:endParaRPr sz="1600">
              <a:latin typeface="Roboto"/>
              <a:ea typeface="Roboto"/>
              <a:cs typeface="Roboto"/>
              <a:sym typeface="Roboto"/>
            </a:endParaRPr>
          </a:p>
          <a:p>
            <a:pPr indent="0" lvl="0" marL="0" rtl="0" algn="l">
              <a:lnSpc>
                <a:spcPct val="115000"/>
              </a:lnSpc>
              <a:spcBef>
                <a:spcPts val="0"/>
              </a:spcBef>
              <a:spcAft>
                <a:spcPts val="0"/>
              </a:spcAft>
              <a:buNone/>
            </a:pPr>
            <a:r>
              <a:rPr lang="en" sz="1600">
                <a:latin typeface="Roboto"/>
                <a:ea typeface="Roboto"/>
                <a:cs typeface="Roboto"/>
                <a:sym typeface="Roboto"/>
              </a:rPr>
              <a:t>F1 Score = 2 (Recall * Precision) / (Recall + Precision)</a:t>
            </a:r>
            <a:endParaRPr sz="1600">
              <a:latin typeface="Roboto"/>
              <a:ea typeface="Roboto"/>
              <a:cs typeface="Roboto"/>
              <a:sym typeface="Roboto"/>
            </a:endParaRPr>
          </a:p>
        </p:txBody>
      </p:sp>
      <p:sp>
        <p:nvSpPr>
          <p:cNvPr id="143" name="Google Shape;143;p20"/>
          <p:cNvSpPr txBox="1"/>
          <p:nvPr/>
        </p:nvSpPr>
        <p:spPr>
          <a:xfrm>
            <a:off x="148375" y="4170225"/>
            <a:ext cx="2117100" cy="9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*TN : True negative</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*TP : True positive</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*FN : False negative</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*FP : False positive</a:t>
            </a:r>
            <a:endParaRPr>
              <a:latin typeface="Roboto"/>
              <a:ea typeface="Roboto"/>
              <a:cs typeface="Roboto"/>
              <a:sym typeface="Roboto"/>
            </a:endParaRPr>
          </a:p>
        </p:txBody>
      </p:sp>
      <p:sp>
        <p:nvSpPr>
          <p:cNvPr id="144" name="Google Shape;144;p20"/>
          <p:cNvSpPr txBox="1"/>
          <p:nvPr/>
        </p:nvSpPr>
        <p:spPr>
          <a:xfrm>
            <a:off x="2437425" y="1570225"/>
            <a:ext cx="1539900" cy="25494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45" name="Google Shape;145;p20"/>
          <p:cNvSpPr txBox="1"/>
          <p:nvPr/>
        </p:nvSpPr>
        <p:spPr>
          <a:xfrm>
            <a:off x="2759750" y="1227925"/>
            <a:ext cx="1015800" cy="3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latin typeface="Roboto"/>
                <a:ea typeface="Roboto"/>
                <a:cs typeface="Roboto"/>
                <a:sym typeface="Roboto"/>
              </a:rPr>
              <a:t>Precision</a:t>
            </a:r>
            <a:endParaRPr>
              <a:solidFill>
                <a:srgbClr val="FF0000"/>
              </a:solidFill>
              <a:latin typeface="Roboto"/>
              <a:ea typeface="Roboto"/>
              <a:cs typeface="Roboto"/>
              <a:sym typeface="Roboto"/>
            </a:endParaRPr>
          </a:p>
        </p:txBody>
      </p:sp>
      <p:sp>
        <p:nvSpPr>
          <p:cNvPr id="146" name="Google Shape;146;p20"/>
          <p:cNvSpPr txBox="1"/>
          <p:nvPr/>
        </p:nvSpPr>
        <p:spPr>
          <a:xfrm>
            <a:off x="37225" y="3174225"/>
            <a:ext cx="4013700" cy="9960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47" name="Google Shape;147;p20"/>
          <p:cNvSpPr txBox="1"/>
          <p:nvPr/>
        </p:nvSpPr>
        <p:spPr>
          <a:xfrm rot="5400000">
            <a:off x="3857625" y="3501075"/>
            <a:ext cx="716400" cy="3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latin typeface="Roboto"/>
                <a:ea typeface="Roboto"/>
                <a:cs typeface="Roboto"/>
                <a:sym typeface="Roboto"/>
              </a:rPr>
              <a:t>Recell</a:t>
            </a:r>
            <a:endParaRPr>
              <a:solidFill>
                <a:srgbClr val="FF0000"/>
              </a:solidFill>
              <a:latin typeface="Roboto"/>
              <a:ea typeface="Roboto"/>
              <a:cs typeface="Roboto"/>
              <a:sym typeface="Roboto"/>
            </a:endParaRPr>
          </a:p>
        </p:txBody>
      </p:sp>
      <p:sp>
        <p:nvSpPr>
          <p:cNvPr id="148" name="Google Shape;148;p20"/>
          <p:cNvSpPr txBox="1"/>
          <p:nvPr/>
        </p:nvSpPr>
        <p:spPr>
          <a:xfrm>
            <a:off x="4180550" y="2782150"/>
            <a:ext cx="4717200" cy="5241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Roboto"/>
                <a:ea typeface="Roboto"/>
                <a:cs typeface="Roboto"/>
                <a:sym typeface="Roboto"/>
              </a:rPr>
              <a:t>F1 score conveys the balance between the precision and the recall.</a:t>
            </a:r>
            <a:endParaRPr b="1">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52" name="Shape 152"/>
        <p:cNvGrpSpPr/>
        <p:nvPr/>
      </p:nvGrpSpPr>
      <p:grpSpPr>
        <a:xfrm>
          <a:off x="0" y="0"/>
          <a:ext cx="0" cy="0"/>
          <a:chOff x="0" y="0"/>
          <a:chExt cx="0" cy="0"/>
        </a:xfrm>
      </p:grpSpPr>
      <p:pic>
        <p:nvPicPr>
          <p:cNvPr id="153" name="Google Shape;153;p21"/>
          <p:cNvPicPr preferRelativeResize="0"/>
          <p:nvPr/>
        </p:nvPicPr>
        <p:blipFill>
          <a:blip r:embed="rId3">
            <a:alphaModFix/>
          </a:blip>
          <a:stretch>
            <a:fillRect/>
          </a:stretch>
        </p:blipFill>
        <p:spPr>
          <a:xfrm>
            <a:off x="0" y="8"/>
            <a:ext cx="9144001" cy="524033"/>
          </a:xfrm>
          <a:prstGeom prst="rect">
            <a:avLst/>
          </a:prstGeom>
          <a:noFill/>
          <a:ln>
            <a:noFill/>
          </a:ln>
        </p:spPr>
      </p:pic>
      <p:sp>
        <p:nvSpPr>
          <p:cNvPr id="154" name="Google Shape;154;p21"/>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Logistic regression</a:t>
            </a:r>
            <a:endParaRPr b="1" sz="3000">
              <a:latin typeface="Roboto"/>
              <a:ea typeface="Roboto"/>
              <a:cs typeface="Roboto"/>
              <a:sym typeface="Roboto"/>
            </a:endParaRPr>
          </a:p>
        </p:txBody>
      </p:sp>
      <p:sp>
        <p:nvSpPr>
          <p:cNvPr id="155" name="Google Shape;155;p21"/>
          <p:cNvSpPr txBox="1"/>
          <p:nvPr/>
        </p:nvSpPr>
        <p:spPr>
          <a:xfrm>
            <a:off x="486275" y="1476325"/>
            <a:ext cx="3487800" cy="7920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SzPts val="2400"/>
              <a:buFont typeface="Roboto"/>
              <a:buChar char="●"/>
            </a:pPr>
            <a:r>
              <a:rPr lang="en" sz="2400">
                <a:latin typeface="Roboto"/>
                <a:ea typeface="Roboto"/>
                <a:cs typeface="Roboto"/>
                <a:sym typeface="Roboto"/>
              </a:rPr>
              <a:t>F1 score: 0.691</a:t>
            </a:r>
            <a:endParaRPr sz="2400">
              <a:latin typeface="Roboto"/>
              <a:ea typeface="Roboto"/>
              <a:cs typeface="Roboto"/>
              <a:sym typeface="Roboto"/>
            </a:endParaRPr>
          </a:p>
          <a:p>
            <a:pPr indent="-381000" lvl="0" marL="457200" rtl="0" algn="l">
              <a:spcBef>
                <a:spcPts val="0"/>
              </a:spcBef>
              <a:spcAft>
                <a:spcPts val="0"/>
              </a:spcAft>
              <a:buSzPts val="2400"/>
              <a:buFont typeface="Roboto"/>
              <a:buChar char="●"/>
            </a:pPr>
            <a:r>
              <a:rPr lang="en" sz="2400">
                <a:latin typeface="Roboto"/>
                <a:ea typeface="Roboto"/>
                <a:cs typeface="Roboto"/>
                <a:sym typeface="Roboto"/>
              </a:rPr>
              <a:t>AUC score: 0.682</a:t>
            </a:r>
            <a:endParaRPr sz="2400">
              <a:latin typeface="Roboto"/>
              <a:ea typeface="Roboto"/>
              <a:cs typeface="Roboto"/>
              <a:sym typeface="Roboto"/>
            </a:endParaRPr>
          </a:p>
        </p:txBody>
      </p:sp>
      <p:pic>
        <p:nvPicPr>
          <p:cNvPr id="156" name="Google Shape;156;p21"/>
          <p:cNvPicPr preferRelativeResize="0"/>
          <p:nvPr/>
        </p:nvPicPr>
        <p:blipFill>
          <a:blip r:embed="rId4">
            <a:alphaModFix/>
          </a:blip>
          <a:stretch>
            <a:fillRect/>
          </a:stretch>
        </p:blipFill>
        <p:spPr>
          <a:xfrm>
            <a:off x="4263050" y="2570252"/>
            <a:ext cx="3487800" cy="2460523"/>
          </a:xfrm>
          <a:prstGeom prst="rect">
            <a:avLst/>
          </a:prstGeom>
          <a:noFill/>
          <a:ln>
            <a:noFill/>
          </a:ln>
        </p:spPr>
      </p:pic>
      <p:pic>
        <p:nvPicPr>
          <p:cNvPr id="157" name="Google Shape;157;p21"/>
          <p:cNvPicPr preferRelativeResize="0"/>
          <p:nvPr/>
        </p:nvPicPr>
        <p:blipFill>
          <a:blip r:embed="rId5">
            <a:alphaModFix/>
          </a:blip>
          <a:stretch>
            <a:fillRect/>
          </a:stretch>
        </p:blipFill>
        <p:spPr>
          <a:xfrm>
            <a:off x="858987" y="2682977"/>
            <a:ext cx="2706230" cy="2460525"/>
          </a:xfrm>
          <a:prstGeom prst="rect">
            <a:avLst/>
          </a:prstGeom>
          <a:noFill/>
          <a:ln>
            <a:noFill/>
          </a:ln>
        </p:spPr>
      </p:pic>
      <p:graphicFrame>
        <p:nvGraphicFramePr>
          <p:cNvPr id="158" name="Google Shape;158;p21"/>
          <p:cNvGraphicFramePr/>
          <p:nvPr/>
        </p:nvGraphicFramePr>
        <p:xfrm>
          <a:off x="4572000" y="682000"/>
          <a:ext cx="3000000" cy="3000000"/>
        </p:xfrm>
        <a:graphic>
          <a:graphicData uri="http://schemas.openxmlformats.org/drawingml/2006/table">
            <a:tbl>
              <a:tblPr>
                <a:noFill/>
                <a:tableStyleId>{044FD1A5-E3C2-40FB-A460-BEEEB137DB11}</a:tableStyleId>
              </a:tblPr>
              <a:tblGrid>
                <a:gridCol w="1504100"/>
                <a:gridCol w="1426475"/>
                <a:gridCol w="1415800"/>
              </a:tblGrid>
              <a:tr h="432575">
                <a:tc>
                  <a:txBody>
                    <a:bodyPr/>
                    <a:lstStyle/>
                    <a:p>
                      <a:pPr indent="0" lvl="0" marL="0" rtl="0" algn="ctr">
                        <a:spcBef>
                          <a:spcPts val="0"/>
                        </a:spcBef>
                        <a:spcAft>
                          <a:spcPts val="0"/>
                        </a:spcAft>
                        <a:buNone/>
                      </a:pPr>
                      <a:r>
                        <a:rPr b="1" lang="en" sz="1200">
                          <a:solidFill>
                            <a:srgbClr val="FFFFFF"/>
                          </a:solidFill>
                        </a:rPr>
                        <a:t>Tuning parameter</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200">
                          <a:solidFill>
                            <a:srgbClr val="FFFFFF"/>
                          </a:solidFill>
                        </a:rPr>
                        <a:t>Best parameters</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000">
                          <a:solidFill>
                            <a:srgbClr val="999999"/>
                          </a:solidFill>
                        </a:rPr>
                        <a:t>Range</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C</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0.01</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0.0001 ~ 100000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multi class</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multinomial</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Ovr, multinomial</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solver</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newton-cg</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newton-cg, lbfgs, liblinear, sag, saga</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62" name="Shape 162"/>
        <p:cNvGrpSpPr/>
        <p:nvPr/>
      </p:nvGrpSpPr>
      <p:grpSpPr>
        <a:xfrm>
          <a:off x="0" y="0"/>
          <a:ext cx="0" cy="0"/>
          <a:chOff x="0" y="0"/>
          <a:chExt cx="0" cy="0"/>
        </a:xfrm>
      </p:grpSpPr>
      <p:pic>
        <p:nvPicPr>
          <p:cNvPr id="163" name="Google Shape;163;p22"/>
          <p:cNvPicPr preferRelativeResize="0"/>
          <p:nvPr/>
        </p:nvPicPr>
        <p:blipFill>
          <a:blip r:embed="rId3">
            <a:alphaModFix/>
          </a:blip>
          <a:stretch>
            <a:fillRect/>
          </a:stretch>
        </p:blipFill>
        <p:spPr>
          <a:xfrm>
            <a:off x="0" y="8"/>
            <a:ext cx="9144001" cy="524033"/>
          </a:xfrm>
          <a:prstGeom prst="rect">
            <a:avLst/>
          </a:prstGeom>
          <a:noFill/>
          <a:ln>
            <a:noFill/>
          </a:ln>
        </p:spPr>
      </p:pic>
      <p:sp>
        <p:nvSpPr>
          <p:cNvPr id="164" name="Google Shape;164;p22"/>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Multilayer Perceptron</a:t>
            </a:r>
            <a:endParaRPr b="1" sz="3000">
              <a:latin typeface="Roboto"/>
              <a:ea typeface="Roboto"/>
              <a:cs typeface="Roboto"/>
              <a:sym typeface="Roboto"/>
            </a:endParaRPr>
          </a:p>
        </p:txBody>
      </p:sp>
      <p:sp>
        <p:nvSpPr>
          <p:cNvPr id="165" name="Google Shape;165;p22"/>
          <p:cNvSpPr txBox="1"/>
          <p:nvPr/>
        </p:nvSpPr>
        <p:spPr>
          <a:xfrm>
            <a:off x="562475" y="1400125"/>
            <a:ext cx="3487800" cy="7920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SzPts val="2400"/>
              <a:buFont typeface="Roboto"/>
              <a:buChar char="●"/>
            </a:pPr>
            <a:r>
              <a:rPr lang="en" sz="2400">
                <a:latin typeface="Roboto"/>
                <a:ea typeface="Roboto"/>
                <a:cs typeface="Roboto"/>
                <a:sym typeface="Roboto"/>
              </a:rPr>
              <a:t>F1 score: 0.961</a:t>
            </a:r>
            <a:endParaRPr sz="2400">
              <a:latin typeface="Roboto"/>
              <a:ea typeface="Roboto"/>
              <a:cs typeface="Roboto"/>
              <a:sym typeface="Roboto"/>
            </a:endParaRPr>
          </a:p>
          <a:p>
            <a:pPr indent="-381000" lvl="0" marL="457200" rtl="0" algn="l">
              <a:spcBef>
                <a:spcPts val="0"/>
              </a:spcBef>
              <a:spcAft>
                <a:spcPts val="0"/>
              </a:spcAft>
              <a:buSzPts val="2400"/>
              <a:buFont typeface="Roboto"/>
              <a:buChar char="●"/>
            </a:pPr>
            <a:r>
              <a:rPr lang="en" sz="2400">
                <a:latin typeface="Roboto"/>
                <a:ea typeface="Roboto"/>
                <a:cs typeface="Roboto"/>
                <a:sym typeface="Roboto"/>
              </a:rPr>
              <a:t>AUC score: 0.534</a:t>
            </a:r>
            <a:endParaRPr sz="2400">
              <a:latin typeface="Roboto"/>
              <a:ea typeface="Roboto"/>
              <a:cs typeface="Roboto"/>
              <a:sym typeface="Roboto"/>
            </a:endParaRPr>
          </a:p>
        </p:txBody>
      </p:sp>
      <p:pic>
        <p:nvPicPr>
          <p:cNvPr id="166" name="Google Shape;166;p22"/>
          <p:cNvPicPr preferRelativeResize="0"/>
          <p:nvPr/>
        </p:nvPicPr>
        <p:blipFill>
          <a:blip r:embed="rId4">
            <a:alphaModFix/>
          </a:blip>
          <a:stretch>
            <a:fillRect/>
          </a:stretch>
        </p:blipFill>
        <p:spPr>
          <a:xfrm>
            <a:off x="4466225" y="2402620"/>
            <a:ext cx="3487800" cy="2620630"/>
          </a:xfrm>
          <a:prstGeom prst="rect">
            <a:avLst/>
          </a:prstGeom>
          <a:noFill/>
          <a:ln>
            <a:noFill/>
          </a:ln>
        </p:spPr>
      </p:pic>
      <p:pic>
        <p:nvPicPr>
          <p:cNvPr id="167" name="Google Shape;167;p22"/>
          <p:cNvPicPr preferRelativeResize="0"/>
          <p:nvPr/>
        </p:nvPicPr>
        <p:blipFill>
          <a:blip r:embed="rId5">
            <a:alphaModFix/>
          </a:blip>
          <a:stretch>
            <a:fillRect/>
          </a:stretch>
        </p:blipFill>
        <p:spPr>
          <a:xfrm>
            <a:off x="919438" y="2478825"/>
            <a:ext cx="2585317" cy="2549800"/>
          </a:xfrm>
          <a:prstGeom prst="rect">
            <a:avLst/>
          </a:prstGeom>
          <a:noFill/>
          <a:ln>
            <a:noFill/>
          </a:ln>
        </p:spPr>
      </p:pic>
      <p:graphicFrame>
        <p:nvGraphicFramePr>
          <p:cNvPr id="168" name="Google Shape;168;p22"/>
          <p:cNvGraphicFramePr/>
          <p:nvPr/>
        </p:nvGraphicFramePr>
        <p:xfrm>
          <a:off x="4572000" y="682000"/>
          <a:ext cx="3000000" cy="3000000"/>
        </p:xfrm>
        <a:graphic>
          <a:graphicData uri="http://schemas.openxmlformats.org/drawingml/2006/table">
            <a:tbl>
              <a:tblPr>
                <a:noFill/>
                <a:tableStyleId>{044FD1A5-E3C2-40FB-A460-BEEEB137DB11}</a:tableStyleId>
              </a:tblPr>
              <a:tblGrid>
                <a:gridCol w="1504100"/>
                <a:gridCol w="1426475"/>
                <a:gridCol w="1415800"/>
              </a:tblGrid>
              <a:tr h="432575">
                <a:tc>
                  <a:txBody>
                    <a:bodyPr/>
                    <a:lstStyle/>
                    <a:p>
                      <a:pPr indent="0" lvl="0" marL="0" rtl="0" algn="ctr">
                        <a:spcBef>
                          <a:spcPts val="0"/>
                        </a:spcBef>
                        <a:spcAft>
                          <a:spcPts val="0"/>
                        </a:spcAft>
                        <a:buNone/>
                      </a:pPr>
                      <a:r>
                        <a:rPr b="1" lang="en" sz="1200">
                          <a:solidFill>
                            <a:srgbClr val="FFFFFF"/>
                          </a:solidFill>
                        </a:rPr>
                        <a:t>Tuning parameter</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200">
                          <a:solidFill>
                            <a:srgbClr val="FFFFFF"/>
                          </a:solidFill>
                        </a:rPr>
                        <a:t>Best parameters</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000">
                          <a:solidFill>
                            <a:srgbClr val="999999"/>
                          </a:solidFill>
                        </a:rPr>
                        <a:t>Range</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activation</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logistic</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i</a:t>
                      </a:r>
                      <a:r>
                        <a:rPr b="1" lang="en" sz="1000">
                          <a:solidFill>
                            <a:srgbClr val="999999"/>
                          </a:solidFill>
                        </a:rPr>
                        <a:t>dentity, logistic, tanh, relu</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hidden layer size</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100</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10, 50, 100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72" name="Shape 172"/>
        <p:cNvGrpSpPr/>
        <p:nvPr/>
      </p:nvGrpSpPr>
      <p:grpSpPr>
        <a:xfrm>
          <a:off x="0" y="0"/>
          <a:ext cx="0" cy="0"/>
          <a:chOff x="0" y="0"/>
          <a:chExt cx="0" cy="0"/>
        </a:xfrm>
      </p:grpSpPr>
      <p:pic>
        <p:nvPicPr>
          <p:cNvPr id="173" name="Google Shape;173;p23"/>
          <p:cNvPicPr preferRelativeResize="0"/>
          <p:nvPr/>
        </p:nvPicPr>
        <p:blipFill>
          <a:blip r:embed="rId3">
            <a:alphaModFix/>
          </a:blip>
          <a:stretch>
            <a:fillRect/>
          </a:stretch>
        </p:blipFill>
        <p:spPr>
          <a:xfrm>
            <a:off x="0" y="8"/>
            <a:ext cx="9144001" cy="524033"/>
          </a:xfrm>
          <a:prstGeom prst="rect">
            <a:avLst/>
          </a:prstGeom>
          <a:noFill/>
          <a:ln>
            <a:noFill/>
          </a:ln>
        </p:spPr>
      </p:pic>
      <p:sp>
        <p:nvSpPr>
          <p:cNvPr id="174" name="Google Shape;174;p23"/>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Decision tree</a:t>
            </a:r>
            <a:endParaRPr b="1" sz="3000">
              <a:latin typeface="Roboto"/>
              <a:ea typeface="Roboto"/>
              <a:cs typeface="Roboto"/>
              <a:sym typeface="Roboto"/>
            </a:endParaRPr>
          </a:p>
        </p:txBody>
      </p:sp>
      <p:sp>
        <p:nvSpPr>
          <p:cNvPr id="175" name="Google Shape;175;p23"/>
          <p:cNvSpPr txBox="1"/>
          <p:nvPr/>
        </p:nvSpPr>
        <p:spPr>
          <a:xfrm>
            <a:off x="562475" y="1476325"/>
            <a:ext cx="3487800" cy="7920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SzPts val="2400"/>
              <a:buFont typeface="Roboto"/>
              <a:buChar char="●"/>
            </a:pPr>
            <a:r>
              <a:rPr lang="en" sz="2400">
                <a:latin typeface="Roboto"/>
                <a:ea typeface="Roboto"/>
                <a:cs typeface="Roboto"/>
                <a:sym typeface="Roboto"/>
              </a:rPr>
              <a:t>F1 score: 0.958</a:t>
            </a:r>
            <a:endParaRPr sz="2400">
              <a:latin typeface="Roboto"/>
              <a:ea typeface="Roboto"/>
              <a:cs typeface="Roboto"/>
              <a:sym typeface="Roboto"/>
            </a:endParaRPr>
          </a:p>
          <a:p>
            <a:pPr indent="-381000" lvl="0" marL="457200" rtl="0" algn="l">
              <a:spcBef>
                <a:spcPts val="0"/>
              </a:spcBef>
              <a:spcAft>
                <a:spcPts val="0"/>
              </a:spcAft>
              <a:buSzPts val="2400"/>
              <a:buFont typeface="Roboto"/>
              <a:buChar char="●"/>
            </a:pPr>
            <a:r>
              <a:rPr lang="en" sz="2400">
                <a:latin typeface="Roboto"/>
                <a:ea typeface="Roboto"/>
                <a:cs typeface="Roboto"/>
                <a:sym typeface="Roboto"/>
              </a:rPr>
              <a:t>AUC score: 0.540</a:t>
            </a:r>
            <a:endParaRPr sz="2400">
              <a:latin typeface="Roboto"/>
              <a:ea typeface="Roboto"/>
              <a:cs typeface="Roboto"/>
              <a:sym typeface="Roboto"/>
            </a:endParaRPr>
          </a:p>
        </p:txBody>
      </p:sp>
      <p:pic>
        <p:nvPicPr>
          <p:cNvPr id="176" name="Google Shape;176;p23"/>
          <p:cNvPicPr preferRelativeResize="0"/>
          <p:nvPr/>
        </p:nvPicPr>
        <p:blipFill>
          <a:blip r:embed="rId4">
            <a:alphaModFix/>
          </a:blip>
          <a:stretch>
            <a:fillRect/>
          </a:stretch>
        </p:blipFill>
        <p:spPr>
          <a:xfrm>
            <a:off x="4502675" y="2268325"/>
            <a:ext cx="3400619" cy="2677800"/>
          </a:xfrm>
          <a:prstGeom prst="rect">
            <a:avLst/>
          </a:prstGeom>
          <a:noFill/>
          <a:ln>
            <a:noFill/>
          </a:ln>
        </p:spPr>
      </p:pic>
      <p:pic>
        <p:nvPicPr>
          <p:cNvPr id="177" name="Google Shape;177;p23"/>
          <p:cNvPicPr preferRelativeResize="0"/>
          <p:nvPr/>
        </p:nvPicPr>
        <p:blipFill>
          <a:blip r:embed="rId5">
            <a:alphaModFix/>
          </a:blip>
          <a:stretch>
            <a:fillRect/>
          </a:stretch>
        </p:blipFill>
        <p:spPr>
          <a:xfrm>
            <a:off x="923150" y="2389500"/>
            <a:ext cx="2590740" cy="2677800"/>
          </a:xfrm>
          <a:prstGeom prst="rect">
            <a:avLst/>
          </a:prstGeom>
          <a:noFill/>
          <a:ln>
            <a:noFill/>
          </a:ln>
        </p:spPr>
      </p:pic>
      <p:graphicFrame>
        <p:nvGraphicFramePr>
          <p:cNvPr id="178" name="Google Shape;178;p23"/>
          <p:cNvGraphicFramePr/>
          <p:nvPr/>
        </p:nvGraphicFramePr>
        <p:xfrm>
          <a:off x="4572000" y="682000"/>
          <a:ext cx="3000000" cy="3000000"/>
        </p:xfrm>
        <a:graphic>
          <a:graphicData uri="http://schemas.openxmlformats.org/drawingml/2006/table">
            <a:tbl>
              <a:tblPr>
                <a:noFill/>
                <a:tableStyleId>{044FD1A5-E3C2-40FB-A460-BEEEB137DB11}</a:tableStyleId>
              </a:tblPr>
              <a:tblGrid>
                <a:gridCol w="1504100"/>
                <a:gridCol w="1426475"/>
                <a:gridCol w="1415800"/>
              </a:tblGrid>
              <a:tr h="432575">
                <a:tc>
                  <a:txBody>
                    <a:bodyPr/>
                    <a:lstStyle/>
                    <a:p>
                      <a:pPr indent="0" lvl="0" marL="0" rtl="0" algn="ctr">
                        <a:spcBef>
                          <a:spcPts val="0"/>
                        </a:spcBef>
                        <a:spcAft>
                          <a:spcPts val="0"/>
                        </a:spcAft>
                        <a:buNone/>
                      </a:pPr>
                      <a:r>
                        <a:rPr b="1" lang="en" sz="1200">
                          <a:solidFill>
                            <a:srgbClr val="FFFFFF"/>
                          </a:solidFill>
                        </a:rPr>
                        <a:t>Tuning parameter</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200">
                          <a:solidFill>
                            <a:srgbClr val="FFFFFF"/>
                          </a:solidFill>
                        </a:rPr>
                        <a:t>Best parameters</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000">
                          <a:solidFill>
                            <a:srgbClr val="999999"/>
                          </a:solidFill>
                        </a:rPr>
                        <a:t>Range</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Max depth</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90</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10 ~ 90 (20)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min sample split</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10</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10 ~ 90 (20)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82" name="Shape 182"/>
        <p:cNvGrpSpPr/>
        <p:nvPr/>
      </p:nvGrpSpPr>
      <p:grpSpPr>
        <a:xfrm>
          <a:off x="0" y="0"/>
          <a:ext cx="0" cy="0"/>
          <a:chOff x="0" y="0"/>
          <a:chExt cx="0" cy="0"/>
        </a:xfrm>
      </p:grpSpPr>
      <p:pic>
        <p:nvPicPr>
          <p:cNvPr id="183" name="Google Shape;183;p24"/>
          <p:cNvPicPr preferRelativeResize="0"/>
          <p:nvPr/>
        </p:nvPicPr>
        <p:blipFill>
          <a:blip r:embed="rId3">
            <a:alphaModFix/>
          </a:blip>
          <a:stretch>
            <a:fillRect/>
          </a:stretch>
        </p:blipFill>
        <p:spPr>
          <a:xfrm>
            <a:off x="0" y="8"/>
            <a:ext cx="9144001" cy="524033"/>
          </a:xfrm>
          <a:prstGeom prst="rect">
            <a:avLst/>
          </a:prstGeom>
          <a:noFill/>
          <a:ln>
            <a:noFill/>
          </a:ln>
        </p:spPr>
      </p:pic>
      <p:sp>
        <p:nvSpPr>
          <p:cNvPr id="184" name="Google Shape;184;p24"/>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Random Forest</a:t>
            </a:r>
            <a:endParaRPr b="1" sz="3000">
              <a:latin typeface="Roboto"/>
              <a:ea typeface="Roboto"/>
              <a:cs typeface="Roboto"/>
              <a:sym typeface="Roboto"/>
            </a:endParaRPr>
          </a:p>
        </p:txBody>
      </p:sp>
      <p:pic>
        <p:nvPicPr>
          <p:cNvPr id="185" name="Google Shape;185;p24"/>
          <p:cNvPicPr preferRelativeResize="0"/>
          <p:nvPr/>
        </p:nvPicPr>
        <p:blipFill>
          <a:blip r:embed="rId4">
            <a:alphaModFix/>
          </a:blip>
          <a:stretch>
            <a:fillRect/>
          </a:stretch>
        </p:blipFill>
        <p:spPr>
          <a:xfrm>
            <a:off x="4507764" y="2511175"/>
            <a:ext cx="3330637" cy="2550100"/>
          </a:xfrm>
          <a:prstGeom prst="rect">
            <a:avLst/>
          </a:prstGeom>
          <a:noFill/>
          <a:ln>
            <a:noFill/>
          </a:ln>
        </p:spPr>
      </p:pic>
      <p:pic>
        <p:nvPicPr>
          <p:cNvPr id="186" name="Google Shape;186;p24"/>
          <p:cNvPicPr preferRelativeResize="0"/>
          <p:nvPr/>
        </p:nvPicPr>
        <p:blipFill>
          <a:blip r:embed="rId5">
            <a:alphaModFix/>
          </a:blip>
          <a:stretch>
            <a:fillRect/>
          </a:stretch>
        </p:blipFill>
        <p:spPr>
          <a:xfrm>
            <a:off x="672275" y="2511175"/>
            <a:ext cx="2537364" cy="2550100"/>
          </a:xfrm>
          <a:prstGeom prst="rect">
            <a:avLst/>
          </a:prstGeom>
          <a:noFill/>
          <a:ln>
            <a:noFill/>
          </a:ln>
        </p:spPr>
      </p:pic>
      <p:sp>
        <p:nvSpPr>
          <p:cNvPr id="187" name="Google Shape;187;p24"/>
          <p:cNvSpPr txBox="1"/>
          <p:nvPr/>
        </p:nvSpPr>
        <p:spPr>
          <a:xfrm>
            <a:off x="333875" y="1323925"/>
            <a:ext cx="3487800" cy="7920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SzPts val="2400"/>
              <a:buFont typeface="Roboto"/>
              <a:buChar char="●"/>
            </a:pPr>
            <a:r>
              <a:rPr lang="en" sz="2400">
                <a:latin typeface="Roboto"/>
                <a:ea typeface="Roboto"/>
                <a:cs typeface="Roboto"/>
                <a:sym typeface="Roboto"/>
              </a:rPr>
              <a:t>F1 score: 0.747</a:t>
            </a:r>
            <a:endParaRPr sz="2400">
              <a:latin typeface="Roboto"/>
              <a:ea typeface="Roboto"/>
              <a:cs typeface="Roboto"/>
              <a:sym typeface="Roboto"/>
            </a:endParaRPr>
          </a:p>
          <a:p>
            <a:pPr indent="-381000" lvl="0" marL="457200" rtl="0" algn="l">
              <a:spcBef>
                <a:spcPts val="0"/>
              </a:spcBef>
              <a:spcAft>
                <a:spcPts val="0"/>
              </a:spcAft>
              <a:buSzPts val="2400"/>
              <a:buFont typeface="Roboto"/>
              <a:buChar char="●"/>
            </a:pPr>
            <a:r>
              <a:rPr lang="en" sz="2400">
                <a:latin typeface="Roboto"/>
                <a:ea typeface="Roboto"/>
                <a:cs typeface="Roboto"/>
                <a:sym typeface="Roboto"/>
              </a:rPr>
              <a:t>AUC score: 0.671</a:t>
            </a:r>
            <a:endParaRPr sz="2400">
              <a:latin typeface="Roboto"/>
              <a:ea typeface="Roboto"/>
              <a:cs typeface="Roboto"/>
              <a:sym typeface="Roboto"/>
            </a:endParaRPr>
          </a:p>
        </p:txBody>
      </p:sp>
      <p:graphicFrame>
        <p:nvGraphicFramePr>
          <p:cNvPr id="188" name="Google Shape;188;p24"/>
          <p:cNvGraphicFramePr/>
          <p:nvPr/>
        </p:nvGraphicFramePr>
        <p:xfrm>
          <a:off x="4572000" y="682000"/>
          <a:ext cx="3000000" cy="3000000"/>
        </p:xfrm>
        <a:graphic>
          <a:graphicData uri="http://schemas.openxmlformats.org/drawingml/2006/table">
            <a:tbl>
              <a:tblPr>
                <a:noFill/>
                <a:tableStyleId>{044FD1A5-E3C2-40FB-A460-BEEEB137DB11}</a:tableStyleId>
              </a:tblPr>
              <a:tblGrid>
                <a:gridCol w="1504100"/>
                <a:gridCol w="1426475"/>
                <a:gridCol w="1415800"/>
              </a:tblGrid>
              <a:tr h="432575">
                <a:tc>
                  <a:txBody>
                    <a:bodyPr/>
                    <a:lstStyle/>
                    <a:p>
                      <a:pPr indent="0" lvl="0" marL="0" rtl="0" algn="ctr">
                        <a:spcBef>
                          <a:spcPts val="0"/>
                        </a:spcBef>
                        <a:spcAft>
                          <a:spcPts val="0"/>
                        </a:spcAft>
                        <a:buNone/>
                      </a:pPr>
                      <a:r>
                        <a:rPr b="1" lang="en" sz="1200">
                          <a:solidFill>
                            <a:srgbClr val="FFFFFF"/>
                          </a:solidFill>
                        </a:rPr>
                        <a:t>Tuning parameter</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200">
                          <a:solidFill>
                            <a:srgbClr val="FFFFFF"/>
                          </a:solidFill>
                        </a:rPr>
                        <a:t>Best parameters</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000">
                          <a:solidFill>
                            <a:srgbClr val="999999"/>
                          </a:solidFill>
                        </a:rPr>
                        <a:t>Range</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Max depth</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90</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50 ~ 130 (20)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Max leaf nodes</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130</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50 ~ 130 (20)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n estomators</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90</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50 ~ 110 (20)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2" name="Shape 192"/>
        <p:cNvGrpSpPr/>
        <p:nvPr/>
      </p:nvGrpSpPr>
      <p:grpSpPr>
        <a:xfrm>
          <a:off x="0" y="0"/>
          <a:ext cx="0" cy="0"/>
          <a:chOff x="0" y="0"/>
          <a:chExt cx="0" cy="0"/>
        </a:xfrm>
      </p:grpSpPr>
      <p:pic>
        <p:nvPicPr>
          <p:cNvPr id="193" name="Google Shape;193;p25"/>
          <p:cNvPicPr preferRelativeResize="0"/>
          <p:nvPr/>
        </p:nvPicPr>
        <p:blipFill>
          <a:blip r:embed="rId3">
            <a:alphaModFix/>
          </a:blip>
          <a:stretch>
            <a:fillRect/>
          </a:stretch>
        </p:blipFill>
        <p:spPr>
          <a:xfrm>
            <a:off x="0" y="8"/>
            <a:ext cx="9144001" cy="524033"/>
          </a:xfrm>
          <a:prstGeom prst="rect">
            <a:avLst/>
          </a:prstGeom>
          <a:noFill/>
          <a:ln>
            <a:noFill/>
          </a:ln>
        </p:spPr>
      </p:pic>
      <p:sp>
        <p:nvSpPr>
          <p:cNvPr id="194" name="Google Shape;194;p25"/>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XGBoosting</a:t>
            </a:r>
            <a:endParaRPr b="1" sz="3000">
              <a:latin typeface="Roboto"/>
              <a:ea typeface="Roboto"/>
              <a:cs typeface="Roboto"/>
              <a:sym typeface="Roboto"/>
            </a:endParaRPr>
          </a:p>
        </p:txBody>
      </p:sp>
      <p:sp>
        <p:nvSpPr>
          <p:cNvPr id="195" name="Google Shape;195;p25"/>
          <p:cNvSpPr txBox="1"/>
          <p:nvPr/>
        </p:nvSpPr>
        <p:spPr>
          <a:xfrm>
            <a:off x="562475" y="1400125"/>
            <a:ext cx="3487800" cy="7920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SzPts val="2400"/>
              <a:buFont typeface="Roboto"/>
              <a:buChar char="●"/>
            </a:pPr>
            <a:r>
              <a:rPr lang="en" sz="2400">
                <a:latin typeface="Roboto"/>
                <a:ea typeface="Roboto"/>
                <a:cs typeface="Roboto"/>
                <a:sym typeface="Roboto"/>
              </a:rPr>
              <a:t>F1 score: 0.703</a:t>
            </a:r>
            <a:endParaRPr sz="2400">
              <a:latin typeface="Roboto"/>
              <a:ea typeface="Roboto"/>
              <a:cs typeface="Roboto"/>
              <a:sym typeface="Roboto"/>
            </a:endParaRPr>
          </a:p>
          <a:p>
            <a:pPr indent="-381000" lvl="0" marL="457200" rtl="0" algn="l">
              <a:spcBef>
                <a:spcPts val="0"/>
              </a:spcBef>
              <a:spcAft>
                <a:spcPts val="0"/>
              </a:spcAft>
              <a:buSzPts val="2400"/>
              <a:buFont typeface="Roboto"/>
              <a:buChar char="●"/>
            </a:pPr>
            <a:r>
              <a:rPr lang="en" sz="2400">
                <a:latin typeface="Roboto"/>
                <a:ea typeface="Roboto"/>
                <a:cs typeface="Roboto"/>
                <a:sym typeface="Roboto"/>
              </a:rPr>
              <a:t>AUC score:</a:t>
            </a:r>
            <a:r>
              <a:rPr lang="en" sz="2400">
                <a:latin typeface="Roboto"/>
                <a:ea typeface="Roboto"/>
                <a:cs typeface="Roboto"/>
                <a:sym typeface="Roboto"/>
              </a:rPr>
              <a:t> 0.685</a:t>
            </a:r>
            <a:endParaRPr sz="2400">
              <a:latin typeface="Roboto"/>
              <a:ea typeface="Roboto"/>
              <a:cs typeface="Roboto"/>
              <a:sym typeface="Roboto"/>
            </a:endParaRPr>
          </a:p>
        </p:txBody>
      </p:sp>
      <p:pic>
        <p:nvPicPr>
          <p:cNvPr id="196" name="Google Shape;196;p25"/>
          <p:cNvPicPr preferRelativeResize="0"/>
          <p:nvPr/>
        </p:nvPicPr>
        <p:blipFill>
          <a:blip r:embed="rId4">
            <a:alphaModFix/>
          </a:blip>
          <a:stretch>
            <a:fillRect/>
          </a:stretch>
        </p:blipFill>
        <p:spPr>
          <a:xfrm>
            <a:off x="4675000" y="2571750"/>
            <a:ext cx="3268575" cy="2306253"/>
          </a:xfrm>
          <a:prstGeom prst="rect">
            <a:avLst/>
          </a:prstGeom>
          <a:noFill/>
          <a:ln>
            <a:noFill/>
          </a:ln>
        </p:spPr>
      </p:pic>
      <p:pic>
        <p:nvPicPr>
          <p:cNvPr id="197" name="Google Shape;197;p25"/>
          <p:cNvPicPr preferRelativeResize="0"/>
          <p:nvPr/>
        </p:nvPicPr>
        <p:blipFill>
          <a:blip r:embed="rId5">
            <a:alphaModFix/>
          </a:blip>
          <a:stretch>
            <a:fillRect/>
          </a:stretch>
        </p:blipFill>
        <p:spPr>
          <a:xfrm>
            <a:off x="725499" y="2298325"/>
            <a:ext cx="2911850" cy="2647925"/>
          </a:xfrm>
          <a:prstGeom prst="rect">
            <a:avLst/>
          </a:prstGeom>
          <a:noFill/>
          <a:ln>
            <a:noFill/>
          </a:ln>
        </p:spPr>
      </p:pic>
      <p:graphicFrame>
        <p:nvGraphicFramePr>
          <p:cNvPr id="198" name="Google Shape;198;p25"/>
          <p:cNvGraphicFramePr/>
          <p:nvPr/>
        </p:nvGraphicFramePr>
        <p:xfrm>
          <a:off x="4572000" y="682000"/>
          <a:ext cx="3000000" cy="3000000"/>
        </p:xfrm>
        <a:graphic>
          <a:graphicData uri="http://schemas.openxmlformats.org/drawingml/2006/table">
            <a:tbl>
              <a:tblPr>
                <a:noFill/>
                <a:tableStyleId>{044FD1A5-E3C2-40FB-A460-BEEEB137DB11}</a:tableStyleId>
              </a:tblPr>
              <a:tblGrid>
                <a:gridCol w="1504100"/>
                <a:gridCol w="1426475"/>
                <a:gridCol w="1415800"/>
              </a:tblGrid>
              <a:tr h="432575">
                <a:tc>
                  <a:txBody>
                    <a:bodyPr/>
                    <a:lstStyle/>
                    <a:p>
                      <a:pPr indent="0" lvl="0" marL="0" rtl="0" algn="ctr">
                        <a:spcBef>
                          <a:spcPts val="0"/>
                        </a:spcBef>
                        <a:spcAft>
                          <a:spcPts val="0"/>
                        </a:spcAft>
                        <a:buNone/>
                      </a:pPr>
                      <a:r>
                        <a:rPr b="1" lang="en" sz="1200">
                          <a:solidFill>
                            <a:srgbClr val="FFFFFF"/>
                          </a:solidFill>
                        </a:rPr>
                        <a:t>Tuning parameter</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200">
                          <a:solidFill>
                            <a:srgbClr val="FFFFFF"/>
                          </a:solidFill>
                        </a:rPr>
                        <a:t>Best parameters</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000">
                          <a:solidFill>
                            <a:srgbClr val="999999"/>
                          </a:solidFill>
                        </a:rPr>
                        <a:t>Range</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eta</a:t>
                      </a:r>
                      <a:endParaRPr b="1" sz="1200"/>
                    </a:p>
                  </a:txBody>
                  <a:tcPr marT="91425" marB="91425" marR="91425" marL="91425">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0.0001</a:t>
                      </a:r>
                      <a:endParaRPr sz="1200"/>
                    </a:p>
                  </a:txBody>
                  <a:tcPr marT="91425" marB="91425" marR="91425" marL="91425">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0.0001~ 10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gamma</a:t>
                      </a:r>
                      <a:endParaRPr b="1" sz="1200"/>
                    </a:p>
                  </a:txBody>
                  <a:tcPr marT="91425" marB="91425" marR="91425" marL="91425">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10</a:t>
                      </a:r>
                      <a:endParaRPr sz="1200"/>
                    </a:p>
                  </a:txBody>
                  <a:tcPr marT="91425" marB="91425" marR="91425" marL="91425">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0, 10, 100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spcBef>
                          <a:spcPts val="0"/>
                        </a:spcBef>
                        <a:spcAft>
                          <a:spcPts val="0"/>
                        </a:spcAft>
                        <a:buNone/>
                      </a:pPr>
                      <a:r>
                        <a:rPr b="1" lang="en" sz="1200"/>
                        <a:t>lamba</a:t>
                      </a:r>
                      <a:endParaRPr b="1" sz="1200"/>
                    </a:p>
                  </a:txBody>
                  <a:tcPr marT="91425" marB="91425" marR="91425" marL="91425">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t>0.0001</a:t>
                      </a:r>
                      <a:endParaRPr b="1" sz="1200"/>
                    </a:p>
                  </a:txBody>
                  <a:tcPr marT="91425" marB="91425" marR="91425" marL="91425">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0.0001</a:t>
                      </a:r>
                      <a:r>
                        <a:rPr b="1" lang="en" sz="1000">
                          <a:solidFill>
                            <a:srgbClr val="999999"/>
                          </a:solidFill>
                        </a:rPr>
                        <a:t> ~ 100000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02" name="Shape 202"/>
        <p:cNvGrpSpPr/>
        <p:nvPr/>
      </p:nvGrpSpPr>
      <p:grpSpPr>
        <a:xfrm>
          <a:off x="0" y="0"/>
          <a:ext cx="0" cy="0"/>
          <a:chOff x="0" y="0"/>
          <a:chExt cx="0" cy="0"/>
        </a:xfrm>
      </p:grpSpPr>
      <p:pic>
        <p:nvPicPr>
          <p:cNvPr id="203" name="Google Shape;203;p26"/>
          <p:cNvPicPr preferRelativeResize="0"/>
          <p:nvPr/>
        </p:nvPicPr>
        <p:blipFill>
          <a:blip r:embed="rId3">
            <a:alphaModFix/>
          </a:blip>
          <a:stretch>
            <a:fillRect/>
          </a:stretch>
        </p:blipFill>
        <p:spPr>
          <a:xfrm>
            <a:off x="0" y="8"/>
            <a:ext cx="9144001" cy="524033"/>
          </a:xfrm>
          <a:prstGeom prst="rect">
            <a:avLst/>
          </a:prstGeom>
          <a:noFill/>
          <a:ln>
            <a:noFill/>
          </a:ln>
        </p:spPr>
      </p:pic>
      <p:sp>
        <p:nvSpPr>
          <p:cNvPr id="204" name="Google Shape;204;p26"/>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KNN</a:t>
            </a:r>
            <a:endParaRPr b="1" sz="3000">
              <a:latin typeface="Roboto"/>
              <a:ea typeface="Roboto"/>
              <a:cs typeface="Roboto"/>
              <a:sym typeface="Roboto"/>
            </a:endParaRPr>
          </a:p>
        </p:txBody>
      </p:sp>
      <p:sp>
        <p:nvSpPr>
          <p:cNvPr id="205" name="Google Shape;205;p26"/>
          <p:cNvSpPr txBox="1"/>
          <p:nvPr/>
        </p:nvSpPr>
        <p:spPr>
          <a:xfrm>
            <a:off x="295450" y="1342950"/>
            <a:ext cx="6258300" cy="14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
        <p:nvSpPr>
          <p:cNvPr id="206" name="Google Shape;206;p26"/>
          <p:cNvSpPr txBox="1"/>
          <p:nvPr/>
        </p:nvSpPr>
        <p:spPr>
          <a:xfrm>
            <a:off x="333875" y="1323925"/>
            <a:ext cx="3487800" cy="792000"/>
          </a:xfrm>
          <a:prstGeom prst="rect">
            <a:avLst/>
          </a:prstGeom>
          <a:noFill/>
          <a:ln>
            <a:noFill/>
          </a:ln>
        </p:spPr>
        <p:txBody>
          <a:bodyPr anchorCtr="0" anchor="ctr" bIns="91425" lIns="91425" spcFirstLastPara="1" rIns="91425" wrap="square" tIns="91425">
            <a:noAutofit/>
          </a:bodyPr>
          <a:lstStyle/>
          <a:p>
            <a:pPr indent="-381000" lvl="0" marL="457200" rtl="0" algn="l">
              <a:spcBef>
                <a:spcPts val="0"/>
              </a:spcBef>
              <a:spcAft>
                <a:spcPts val="0"/>
              </a:spcAft>
              <a:buSzPts val="2400"/>
              <a:buFont typeface="Roboto"/>
              <a:buChar char="●"/>
            </a:pPr>
            <a:r>
              <a:rPr lang="en" sz="2400">
                <a:latin typeface="Roboto"/>
                <a:ea typeface="Roboto"/>
                <a:cs typeface="Roboto"/>
                <a:sym typeface="Roboto"/>
              </a:rPr>
              <a:t>F1 score:</a:t>
            </a:r>
            <a:r>
              <a:rPr lang="en" sz="2400">
                <a:latin typeface="Roboto"/>
                <a:ea typeface="Roboto"/>
                <a:cs typeface="Roboto"/>
                <a:sym typeface="Roboto"/>
              </a:rPr>
              <a:t> 0.964</a:t>
            </a:r>
            <a:endParaRPr sz="2400">
              <a:latin typeface="Roboto"/>
              <a:ea typeface="Roboto"/>
              <a:cs typeface="Roboto"/>
              <a:sym typeface="Roboto"/>
            </a:endParaRPr>
          </a:p>
          <a:p>
            <a:pPr indent="-381000" lvl="0" marL="457200" rtl="0" algn="l">
              <a:spcBef>
                <a:spcPts val="0"/>
              </a:spcBef>
              <a:spcAft>
                <a:spcPts val="0"/>
              </a:spcAft>
              <a:buSzPts val="2400"/>
              <a:buFont typeface="Roboto"/>
              <a:buChar char="●"/>
            </a:pPr>
            <a:r>
              <a:rPr lang="en" sz="2400">
                <a:latin typeface="Roboto"/>
                <a:ea typeface="Roboto"/>
                <a:cs typeface="Roboto"/>
                <a:sym typeface="Roboto"/>
              </a:rPr>
              <a:t>AUC score:</a:t>
            </a:r>
            <a:r>
              <a:rPr lang="en" sz="2400">
                <a:latin typeface="Roboto"/>
                <a:ea typeface="Roboto"/>
                <a:cs typeface="Roboto"/>
                <a:sym typeface="Roboto"/>
              </a:rPr>
              <a:t> 0.520</a:t>
            </a:r>
            <a:endParaRPr sz="2400">
              <a:latin typeface="Roboto"/>
              <a:ea typeface="Roboto"/>
              <a:cs typeface="Roboto"/>
              <a:sym typeface="Roboto"/>
            </a:endParaRPr>
          </a:p>
        </p:txBody>
      </p:sp>
      <p:pic>
        <p:nvPicPr>
          <p:cNvPr id="207" name="Google Shape;207;p26"/>
          <p:cNvPicPr preferRelativeResize="0"/>
          <p:nvPr/>
        </p:nvPicPr>
        <p:blipFill>
          <a:blip r:embed="rId4">
            <a:alphaModFix/>
          </a:blip>
          <a:stretch>
            <a:fillRect/>
          </a:stretch>
        </p:blipFill>
        <p:spPr>
          <a:xfrm>
            <a:off x="502524" y="2389674"/>
            <a:ext cx="2734500" cy="2532575"/>
          </a:xfrm>
          <a:prstGeom prst="rect">
            <a:avLst/>
          </a:prstGeom>
          <a:noFill/>
          <a:ln>
            <a:noFill/>
          </a:ln>
        </p:spPr>
      </p:pic>
      <p:graphicFrame>
        <p:nvGraphicFramePr>
          <p:cNvPr id="208" name="Google Shape;208;p26"/>
          <p:cNvGraphicFramePr/>
          <p:nvPr/>
        </p:nvGraphicFramePr>
        <p:xfrm>
          <a:off x="4425738" y="1103400"/>
          <a:ext cx="3000000" cy="3000000"/>
        </p:xfrm>
        <a:graphic>
          <a:graphicData uri="http://schemas.openxmlformats.org/drawingml/2006/table">
            <a:tbl>
              <a:tblPr>
                <a:noFill/>
                <a:tableStyleId>{044FD1A5-E3C2-40FB-A460-BEEEB137DB11}</a:tableStyleId>
              </a:tblPr>
              <a:tblGrid>
                <a:gridCol w="1504100"/>
                <a:gridCol w="1426475"/>
                <a:gridCol w="1415800"/>
              </a:tblGrid>
              <a:tr h="432575">
                <a:tc>
                  <a:txBody>
                    <a:bodyPr/>
                    <a:lstStyle/>
                    <a:p>
                      <a:pPr indent="0" lvl="0" marL="0" rtl="0" algn="ctr">
                        <a:spcBef>
                          <a:spcPts val="0"/>
                        </a:spcBef>
                        <a:spcAft>
                          <a:spcPts val="0"/>
                        </a:spcAft>
                        <a:buNone/>
                      </a:pPr>
                      <a:r>
                        <a:rPr b="1" lang="en" sz="1200">
                          <a:solidFill>
                            <a:srgbClr val="FFFFFF"/>
                          </a:solidFill>
                        </a:rPr>
                        <a:t>Tuning parameter</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200">
                          <a:solidFill>
                            <a:srgbClr val="FFFFFF"/>
                          </a:solidFill>
                        </a:rPr>
                        <a:t>Best parameters</a:t>
                      </a:r>
                      <a:endParaRPr b="1" sz="1200">
                        <a:solidFill>
                          <a:srgbClr val="FFFFFF"/>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solidFill>
                      <a:srgbClr val="1155CC"/>
                    </a:solidFill>
                  </a:tcPr>
                </a:tc>
                <a:tc>
                  <a:txBody>
                    <a:bodyPr/>
                    <a:lstStyle/>
                    <a:p>
                      <a:pPr indent="0" lvl="0" marL="0" rtl="0" algn="ctr">
                        <a:spcBef>
                          <a:spcPts val="0"/>
                        </a:spcBef>
                        <a:spcAft>
                          <a:spcPts val="0"/>
                        </a:spcAft>
                        <a:buNone/>
                      </a:pPr>
                      <a:r>
                        <a:rPr b="1" lang="en" sz="1000">
                          <a:solidFill>
                            <a:srgbClr val="999999"/>
                          </a:solidFill>
                        </a:rPr>
                        <a:t>Range</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r h="432575">
                <a:tc>
                  <a:txBody>
                    <a:bodyPr/>
                    <a:lstStyle/>
                    <a:p>
                      <a:pPr indent="0" lvl="0" marL="0" rtl="0" algn="ctr">
                        <a:lnSpc>
                          <a:spcPct val="115000"/>
                        </a:lnSpc>
                        <a:spcBef>
                          <a:spcPts val="0"/>
                        </a:spcBef>
                        <a:spcAft>
                          <a:spcPts val="0"/>
                        </a:spcAft>
                        <a:buNone/>
                      </a:pPr>
                      <a:r>
                        <a:rPr b="1" lang="en" sz="1200"/>
                        <a:t>n_neighbors</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200"/>
                        <a:t>1</a:t>
                      </a:r>
                      <a:endParaRPr b="1" sz="1200"/>
                    </a:p>
                  </a:txBody>
                  <a:tcPr marT="91425" marB="91425" marR="91425" marL="91425" anchor="ctr">
                    <a:lnL cap="flat" cmpd="sng" w="19050">
                      <a:solidFill>
                        <a:srgbClr val="1155CC"/>
                      </a:solidFill>
                      <a:prstDash val="solid"/>
                      <a:round/>
                      <a:headEnd len="sm" w="sm" type="none"/>
                      <a:tailEnd len="sm" w="sm" type="none"/>
                    </a:lnL>
                    <a:lnR cap="flat" cmpd="sng" w="19050">
                      <a:solidFill>
                        <a:srgbClr val="1155CC"/>
                      </a:solidFill>
                      <a:prstDash val="solid"/>
                      <a:round/>
                      <a:headEnd len="sm" w="sm" type="none"/>
                      <a:tailEnd len="sm" w="sm" type="none"/>
                    </a:lnR>
                    <a:lnT cap="flat" cmpd="sng" w="19050">
                      <a:solidFill>
                        <a:srgbClr val="1155CC"/>
                      </a:solidFill>
                      <a:prstDash val="solid"/>
                      <a:round/>
                      <a:headEnd len="sm" w="sm" type="none"/>
                      <a:tailEnd len="sm" w="sm" type="none"/>
                    </a:lnT>
                    <a:lnB cap="flat" cmpd="sng" w="19050">
                      <a:solidFill>
                        <a:srgbClr val="1155CC"/>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rgbClr val="999999"/>
                          </a:solidFill>
                        </a:rPr>
                        <a:t>1 ~ 10</a:t>
                      </a:r>
                      <a:endParaRPr b="1" sz="1000">
                        <a:solidFill>
                          <a:srgbClr val="999999"/>
                        </a:solidFill>
                      </a:endParaRPr>
                    </a:p>
                  </a:txBody>
                  <a:tcPr marT="91425" marB="91425" marR="91425" marL="91425" anchor="ctr">
                    <a:lnL cap="flat" cmpd="sng" w="19050">
                      <a:solidFill>
                        <a:srgbClr val="1155CC"/>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bl>
          </a:graphicData>
        </a:graphic>
      </p:graphicFrame>
      <p:cxnSp>
        <p:nvCxnSpPr>
          <p:cNvPr id="209" name="Google Shape;209;p26"/>
          <p:cNvCxnSpPr/>
          <p:nvPr/>
        </p:nvCxnSpPr>
        <p:spPr>
          <a:xfrm flipH="1" rot="10800000">
            <a:off x="1208375" y="4149625"/>
            <a:ext cx="1272000" cy="8100"/>
          </a:xfrm>
          <a:prstGeom prst="straightConnector1">
            <a:avLst/>
          </a:prstGeom>
          <a:noFill/>
          <a:ln cap="flat" cmpd="sng" w="19050">
            <a:solidFill>
              <a:srgbClr val="FF0000"/>
            </a:solidFill>
            <a:prstDash val="solid"/>
            <a:round/>
            <a:headEnd len="med" w="med" type="none"/>
            <a:tailEnd len="med" w="med" type="none"/>
          </a:ln>
        </p:spPr>
      </p:cxnSp>
      <p:cxnSp>
        <p:nvCxnSpPr>
          <p:cNvPr id="210" name="Google Shape;210;p26"/>
          <p:cNvCxnSpPr/>
          <p:nvPr/>
        </p:nvCxnSpPr>
        <p:spPr>
          <a:xfrm>
            <a:off x="6027488" y="1892050"/>
            <a:ext cx="1250700" cy="6600"/>
          </a:xfrm>
          <a:prstGeom prst="straightConnector1">
            <a:avLst/>
          </a:prstGeom>
          <a:noFill/>
          <a:ln cap="flat" cmpd="sng" w="19050">
            <a:solidFill>
              <a:srgbClr val="FF0000"/>
            </a:solidFill>
            <a:prstDash val="solid"/>
            <a:round/>
            <a:headEnd len="med" w="med" type="none"/>
            <a:tailEnd len="med" w="med" type="none"/>
          </a:ln>
        </p:spPr>
      </p:cxnSp>
      <p:pic>
        <p:nvPicPr>
          <p:cNvPr id="211" name="Google Shape;211;p26"/>
          <p:cNvPicPr preferRelativeResize="0"/>
          <p:nvPr/>
        </p:nvPicPr>
        <p:blipFill>
          <a:blip r:embed="rId5">
            <a:alphaModFix/>
          </a:blip>
          <a:stretch>
            <a:fillRect/>
          </a:stretch>
        </p:blipFill>
        <p:spPr>
          <a:xfrm>
            <a:off x="4684375" y="2349575"/>
            <a:ext cx="3331525" cy="2350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1000"/>
                                        <p:tgtEl>
                                          <p:spTgt spid="2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5" name="Shape 215"/>
        <p:cNvGrpSpPr/>
        <p:nvPr/>
      </p:nvGrpSpPr>
      <p:grpSpPr>
        <a:xfrm>
          <a:off x="0" y="0"/>
          <a:ext cx="0" cy="0"/>
          <a:chOff x="0" y="0"/>
          <a:chExt cx="0" cy="0"/>
        </a:xfrm>
      </p:grpSpPr>
      <p:pic>
        <p:nvPicPr>
          <p:cNvPr id="216" name="Google Shape;216;p27"/>
          <p:cNvPicPr preferRelativeResize="0"/>
          <p:nvPr/>
        </p:nvPicPr>
        <p:blipFill>
          <a:blip r:embed="rId3">
            <a:alphaModFix/>
          </a:blip>
          <a:stretch>
            <a:fillRect/>
          </a:stretch>
        </p:blipFill>
        <p:spPr>
          <a:xfrm>
            <a:off x="0" y="8"/>
            <a:ext cx="9144001" cy="524033"/>
          </a:xfrm>
          <a:prstGeom prst="rect">
            <a:avLst/>
          </a:prstGeom>
          <a:noFill/>
          <a:ln>
            <a:noFill/>
          </a:ln>
        </p:spPr>
      </p:pic>
      <p:sp>
        <p:nvSpPr>
          <p:cNvPr id="217" name="Google Shape;217;p27"/>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Model Selection</a:t>
            </a:r>
            <a:endParaRPr b="1" sz="3000">
              <a:latin typeface="Roboto"/>
              <a:ea typeface="Roboto"/>
              <a:cs typeface="Roboto"/>
              <a:sym typeface="Roboto"/>
            </a:endParaRPr>
          </a:p>
        </p:txBody>
      </p:sp>
      <p:sp>
        <p:nvSpPr>
          <p:cNvPr id="218" name="Google Shape;218;p27"/>
          <p:cNvSpPr txBox="1"/>
          <p:nvPr/>
        </p:nvSpPr>
        <p:spPr>
          <a:xfrm>
            <a:off x="295450" y="1342950"/>
            <a:ext cx="6258300" cy="14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graphicFrame>
        <p:nvGraphicFramePr>
          <p:cNvPr id="219" name="Google Shape;219;p27"/>
          <p:cNvGraphicFramePr/>
          <p:nvPr/>
        </p:nvGraphicFramePr>
        <p:xfrm>
          <a:off x="313550" y="1194525"/>
          <a:ext cx="3000000" cy="3000000"/>
        </p:xfrm>
        <a:graphic>
          <a:graphicData uri="http://schemas.openxmlformats.org/drawingml/2006/table">
            <a:tbl>
              <a:tblPr>
                <a:noFill/>
                <a:tableStyleId>{044FD1A5-E3C2-40FB-A460-BEEEB137DB11}</a:tableStyleId>
              </a:tblPr>
              <a:tblGrid>
                <a:gridCol w="2210025"/>
                <a:gridCol w="1071675"/>
                <a:gridCol w="1221050"/>
                <a:gridCol w="1221050"/>
                <a:gridCol w="780525"/>
              </a:tblGrid>
              <a:tr h="392675">
                <a:tc>
                  <a:txBody>
                    <a:bodyPr/>
                    <a:lstStyle/>
                    <a:p>
                      <a:pPr indent="0" lvl="0" marL="0" rtl="0" algn="l">
                        <a:spcBef>
                          <a:spcPts val="0"/>
                        </a:spcBef>
                        <a:spcAft>
                          <a:spcPts val="0"/>
                        </a:spcAft>
                        <a:buNone/>
                      </a:pPr>
                      <a:r>
                        <a:rPr lang="en">
                          <a:solidFill>
                            <a:srgbClr val="FFFFFF"/>
                          </a:solidFill>
                        </a:rPr>
                        <a:t>Model</a:t>
                      </a:r>
                      <a:endParaRPr>
                        <a:solidFill>
                          <a:srgbClr val="FFFFFF"/>
                        </a:solidFill>
                      </a:endParaRPr>
                    </a:p>
                  </a:txBody>
                  <a:tcPr marT="91425" marB="91425" marR="91425" marL="91425">
                    <a:lnB cap="flat" cmpd="sng" w="9525">
                      <a:solidFill>
                        <a:srgbClr val="9E9E9E"/>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a:solidFill>
                            <a:srgbClr val="FFFFFF"/>
                          </a:solidFill>
                        </a:rPr>
                        <a:t>F1 score</a:t>
                      </a:r>
                      <a:endParaRPr>
                        <a:solidFill>
                          <a:srgbClr val="FFFFFF"/>
                        </a:solidFill>
                      </a:endParaRPr>
                    </a:p>
                  </a:txBody>
                  <a:tcPr marT="91425" marB="91425" marR="91425" marL="91425">
                    <a:lnB cap="flat" cmpd="sng" w="9525">
                      <a:solidFill>
                        <a:srgbClr val="9E9E9E"/>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a:solidFill>
                            <a:srgbClr val="FFFFFF"/>
                          </a:solidFill>
                        </a:rPr>
                        <a:t>      std</a:t>
                      </a:r>
                      <a:endParaRPr>
                        <a:solidFill>
                          <a:srgbClr val="FFFFFF"/>
                        </a:solidFill>
                      </a:endParaRPr>
                    </a:p>
                  </a:txBody>
                  <a:tcPr marT="91425" marB="91425" marR="91425" marL="91425">
                    <a:lnB cap="flat" cmpd="sng" w="9525">
                      <a:solidFill>
                        <a:srgbClr val="9E9E9E"/>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a:solidFill>
                            <a:srgbClr val="FFFFFF"/>
                          </a:solidFill>
                        </a:rPr>
                        <a:t>AUC score</a:t>
                      </a:r>
                      <a:endParaRPr>
                        <a:solidFill>
                          <a:srgbClr val="FFFFFF"/>
                        </a:solidFill>
                      </a:endParaRPr>
                    </a:p>
                  </a:txBody>
                  <a:tcPr marT="91425" marB="91425" marR="91425" marL="91425">
                    <a:lnB cap="flat" cmpd="sng" w="9525">
                      <a:solidFill>
                        <a:srgbClr val="9E9E9E"/>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lang="en">
                          <a:solidFill>
                            <a:srgbClr val="FFFFFF"/>
                          </a:solidFill>
                        </a:rPr>
                        <a:t>FN</a:t>
                      </a:r>
                      <a:endParaRPr>
                        <a:solidFill>
                          <a:srgbClr val="FFFFFF"/>
                        </a:solidFill>
                      </a:endParaRPr>
                    </a:p>
                  </a:txBody>
                  <a:tcPr marT="91425" marB="91425" marR="91425" marL="91425">
                    <a:lnB cap="flat" cmpd="sng" w="9525">
                      <a:solidFill>
                        <a:srgbClr val="9E9E9E"/>
                      </a:solidFill>
                      <a:prstDash val="solid"/>
                      <a:round/>
                      <a:headEnd len="sm" w="sm" type="none"/>
                      <a:tailEnd len="sm" w="sm" type="none"/>
                    </a:lnB>
                    <a:solidFill>
                      <a:srgbClr val="000000"/>
                    </a:solidFill>
                  </a:tcPr>
                </a:tc>
              </a:tr>
              <a:tr h="392675">
                <a:tc>
                  <a:txBody>
                    <a:bodyPr/>
                    <a:lstStyle/>
                    <a:p>
                      <a:pPr indent="0" lvl="0" marL="0" rtl="0" algn="l">
                        <a:spcBef>
                          <a:spcPts val="0"/>
                        </a:spcBef>
                        <a:spcAft>
                          <a:spcPts val="0"/>
                        </a:spcAft>
                        <a:buNone/>
                      </a:pPr>
                      <a:r>
                        <a:rPr lang="en"/>
                        <a:t>KNN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0.964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0.002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0.521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0.89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2675">
                <a:tc>
                  <a:txBody>
                    <a:bodyPr/>
                    <a:lstStyle/>
                    <a:p>
                      <a:pPr indent="0" lvl="0" marL="0" rtl="0" algn="l">
                        <a:spcBef>
                          <a:spcPts val="0"/>
                        </a:spcBef>
                        <a:spcAft>
                          <a:spcPts val="0"/>
                        </a:spcAft>
                        <a:buNone/>
                      </a:pPr>
                      <a:r>
                        <a:rPr lang="en"/>
                        <a:t>Multilayer Perceptron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0.961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0.002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0.534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0.86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2675">
                <a:tc>
                  <a:txBody>
                    <a:bodyPr/>
                    <a:lstStyle/>
                    <a:p>
                      <a:pPr indent="0" lvl="0" marL="0" rtl="0" algn="l">
                        <a:spcBef>
                          <a:spcPts val="0"/>
                        </a:spcBef>
                        <a:spcAft>
                          <a:spcPts val="0"/>
                        </a:spcAft>
                        <a:buNone/>
                      </a:pPr>
                      <a:r>
                        <a:rPr lang="en"/>
                        <a:t>Decision Tree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0.958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0.002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0.540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0.84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2675">
                <a:tc>
                  <a:txBody>
                    <a:bodyPr/>
                    <a:lstStyle/>
                    <a:p>
                      <a:pPr indent="0" lvl="0" marL="0" rtl="0" algn="l">
                        <a:spcBef>
                          <a:spcPts val="0"/>
                        </a:spcBef>
                        <a:spcAft>
                          <a:spcPts val="0"/>
                        </a:spcAft>
                        <a:buNone/>
                      </a:pPr>
                      <a:r>
                        <a:rPr lang="en"/>
                        <a:t>Random Forest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0.747</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0.005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0.671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0.39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5275">
                <a:tc>
                  <a:txBody>
                    <a:bodyPr/>
                    <a:lstStyle/>
                    <a:p>
                      <a:pPr indent="0" lvl="0" marL="0" rtl="0" algn="l">
                        <a:spcBef>
                          <a:spcPts val="0"/>
                        </a:spcBef>
                        <a:spcAft>
                          <a:spcPts val="0"/>
                        </a:spcAft>
                        <a:buNone/>
                      </a:pPr>
                      <a:r>
                        <a:rPr lang="en"/>
                        <a:t>XGBoosting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0.703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0.003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0.685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0.33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2675">
                <a:tc>
                  <a:txBody>
                    <a:bodyPr/>
                    <a:lstStyle/>
                    <a:p>
                      <a:pPr indent="0" lvl="0" marL="0" rtl="0" algn="l">
                        <a:spcBef>
                          <a:spcPts val="0"/>
                        </a:spcBef>
                        <a:spcAft>
                          <a:spcPts val="0"/>
                        </a:spcAft>
                        <a:buNone/>
                      </a:pPr>
                      <a:r>
                        <a:rPr lang="en"/>
                        <a:t>Logistic regression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0.691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0.004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0.682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0.32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20" name="Google Shape;220;p27"/>
          <p:cNvSpPr txBox="1"/>
          <p:nvPr/>
        </p:nvSpPr>
        <p:spPr>
          <a:xfrm>
            <a:off x="313550" y="4223025"/>
            <a:ext cx="7961400" cy="455100"/>
          </a:xfrm>
          <a:prstGeom prst="rect">
            <a:avLst/>
          </a:prstGeom>
          <a:solidFill>
            <a:srgbClr val="FF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Roboto"/>
                <a:ea typeface="Roboto"/>
                <a:cs typeface="Roboto"/>
                <a:sym typeface="Roboto"/>
              </a:rPr>
              <a:t>→ </a:t>
            </a:r>
            <a:r>
              <a:rPr b="1" lang="en" sz="2400"/>
              <a:t>Logistic regression</a:t>
            </a:r>
            <a:r>
              <a:rPr b="1" lang="en" sz="2400">
                <a:latin typeface="Roboto"/>
                <a:ea typeface="Roboto"/>
                <a:cs typeface="Roboto"/>
                <a:sym typeface="Roboto"/>
              </a:rPr>
              <a:t> </a:t>
            </a:r>
            <a:r>
              <a:rPr lang="en" sz="2400">
                <a:latin typeface="Roboto"/>
                <a:ea typeface="Roboto"/>
                <a:cs typeface="Roboto"/>
                <a:sym typeface="Roboto"/>
              </a:rPr>
              <a:t>is the best model for our dataset.</a:t>
            </a:r>
            <a:endParaRPr sz="2400">
              <a:latin typeface="Roboto"/>
              <a:ea typeface="Roboto"/>
              <a:cs typeface="Roboto"/>
              <a:sym typeface="Roboto"/>
            </a:endParaRPr>
          </a:p>
        </p:txBody>
      </p:sp>
      <p:sp>
        <p:nvSpPr>
          <p:cNvPr id="221" name="Google Shape;221;p27"/>
          <p:cNvSpPr txBox="1"/>
          <p:nvPr/>
        </p:nvSpPr>
        <p:spPr>
          <a:xfrm>
            <a:off x="7036600" y="1250150"/>
            <a:ext cx="1845300" cy="24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oboto"/>
                <a:ea typeface="Roboto"/>
                <a:cs typeface="Roboto"/>
                <a:sym typeface="Roboto"/>
              </a:rPr>
              <a:t>The lower the </a:t>
            </a:r>
            <a:r>
              <a:rPr b="1" lang="en" sz="1600">
                <a:latin typeface="Roboto"/>
                <a:ea typeface="Roboto"/>
                <a:cs typeface="Roboto"/>
                <a:sym typeface="Roboto"/>
              </a:rPr>
              <a:t>FN </a:t>
            </a:r>
            <a:r>
              <a:rPr lang="en" sz="1600">
                <a:latin typeface="Roboto"/>
                <a:ea typeface="Roboto"/>
                <a:cs typeface="Roboto"/>
                <a:sym typeface="Roboto"/>
              </a:rPr>
              <a:t>score the better.  </a:t>
            </a:r>
            <a:endParaRPr sz="1600">
              <a:latin typeface="Roboto"/>
              <a:ea typeface="Roboto"/>
              <a:cs typeface="Roboto"/>
              <a:sym typeface="Roboto"/>
            </a:endParaRPr>
          </a:p>
          <a:p>
            <a:pPr indent="0" lvl="0" marL="0" rtl="0" algn="l">
              <a:spcBef>
                <a:spcPts val="0"/>
              </a:spcBef>
              <a:spcAft>
                <a:spcPts val="0"/>
              </a:spcAft>
              <a:buNone/>
            </a:pPr>
            <a:r>
              <a:t/>
            </a:r>
            <a:endParaRPr sz="1600">
              <a:latin typeface="Roboto"/>
              <a:ea typeface="Roboto"/>
              <a:cs typeface="Roboto"/>
              <a:sym typeface="Roboto"/>
            </a:endParaRPr>
          </a:p>
          <a:p>
            <a:pPr indent="0" lvl="0" marL="0" rtl="0" algn="l">
              <a:spcBef>
                <a:spcPts val="0"/>
              </a:spcBef>
              <a:spcAft>
                <a:spcPts val="0"/>
              </a:spcAft>
              <a:buNone/>
            </a:pPr>
            <a:r>
              <a:rPr b="1" lang="en" sz="1600">
                <a:latin typeface="Roboto"/>
                <a:ea typeface="Roboto"/>
                <a:cs typeface="Roboto"/>
                <a:sym typeface="Roboto"/>
              </a:rPr>
              <a:t>FN</a:t>
            </a:r>
            <a:r>
              <a:rPr lang="en" sz="1600">
                <a:latin typeface="Roboto"/>
                <a:ea typeface="Roboto"/>
                <a:cs typeface="Roboto"/>
                <a:sym typeface="Roboto"/>
              </a:rPr>
              <a:t>: the applicant not make the repayment but predicted as make the payment.</a:t>
            </a:r>
            <a:endParaRPr sz="1600">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25" name="Shape 225"/>
        <p:cNvGrpSpPr/>
        <p:nvPr/>
      </p:nvGrpSpPr>
      <p:grpSpPr>
        <a:xfrm>
          <a:off x="0" y="0"/>
          <a:ext cx="0" cy="0"/>
          <a:chOff x="0" y="0"/>
          <a:chExt cx="0" cy="0"/>
        </a:xfrm>
      </p:grpSpPr>
      <p:pic>
        <p:nvPicPr>
          <p:cNvPr id="226" name="Google Shape;226;p28"/>
          <p:cNvPicPr preferRelativeResize="0"/>
          <p:nvPr/>
        </p:nvPicPr>
        <p:blipFill>
          <a:blip r:embed="rId3">
            <a:alphaModFix/>
          </a:blip>
          <a:stretch>
            <a:fillRect/>
          </a:stretch>
        </p:blipFill>
        <p:spPr>
          <a:xfrm>
            <a:off x="0" y="8"/>
            <a:ext cx="9144001" cy="524033"/>
          </a:xfrm>
          <a:prstGeom prst="rect">
            <a:avLst/>
          </a:prstGeom>
          <a:noFill/>
          <a:ln>
            <a:noFill/>
          </a:ln>
        </p:spPr>
      </p:pic>
      <p:sp>
        <p:nvSpPr>
          <p:cNvPr id="227" name="Google Shape;227;p28"/>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Feature Importance</a:t>
            </a:r>
            <a:endParaRPr b="1" sz="3000">
              <a:latin typeface="Roboto"/>
              <a:ea typeface="Roboto"/>
              <a:cs typeface="Roboto"/>
              <a:sym typeface="Roboto"/>
            </a:endParaRPr>
          </a:p>
        </p:txBody>
      </p:sp>
      <p:sp>
        <p:nvSpPr>
          <p:cNvPr id="228" name="Google Shape;228;p28"/>
          <p:cNvSpPr txBox="1"/>
          <p:nvPr/>
        </p:nvSpPr>
        <p:spPr>
          <a:xfrm>
            <a:off x="295450" y="1342950"/>
            <a:ext cx="6258300" cy="14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229" name="Google Shape;229;p28"/>
          <p:cNvPicPr preferRelativeResize="0"/>
          <p:nvPr/>
        </p:nvPicPr>
        <p:blipFill>
          <a:blip r:embed="rId4">
            <a:alphaModFix/>
          </a:blip>
          <a:stretch>
            <a:fillRect/>
          </a:stretch>
        </p:blipFill>
        <p:spPr>
          <a:xfrm>
            <a:off x="4160075" y="646950"/>
            <a:ext cx="4684050" cy="2481850"/>
          </a:xfrm>
          <a:prstGeom prst="rect">
            <a:avLst/>
          </a:prstGeom>
          <a:noFill/>
          <a:ln>
            <a:noFill/>
          </a:ln>
        </p:spPr>
      </p:pic>
      <p:pic>
        <p:nvPicPr>
          <p:cNvPr id="230" name="Google Shape;230;p28"/>
          <p:cNvPicPr preferRelativeResize="0"/>
          <p:nvPr/>
        </p:nvPicPr>
        <p:blipFill>
          <a:blip r:embed="rId5">
            <a:alphaModFix/>
          </a:blip>
          <a:stretch>
            <a:fillRect/>
          </a:stretch>
        </p:blipFill>
        <p:spPr>
          <a:xfrm>
            <a:off x="373275" y="3219100"/>
            <a:ext cx="7426899" cy="1695650"/>
          </a:xfrm>
          <a:prstGeom prst="rect">
            <a:avLst/>
          </a:prstGeom>
          <a:noFill/>
          <a:ln>
            <a:noFill/>
          </a:ln>
        </p:spPr>
      </p:pic>
      <p:sp>
        <p:nvSpPr>
          <p:cNvPr id="231" name="Google Shape;231;p28"/>
          <p:cNvSpPr txBox="1"/>
          <p:nvPr/>
        </p:nvSpPr>
        <p:spPr>
          <a:xfrm>
            <a:off x="750350" y="1342950"/>
            <a:ext cx="2483100" cy="1475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Roboto"/>
              <a:buChar char="●"/>
            </a:pPr>
            <a:r>
              <a:rPr lang="en">
                <a:latin typeface="Roboto"/>
                <a:ea typeface="Roboto"/>
                <a:cs typeface="Roboto"/>
                <a:sym typeface="Roboto"/>
              </a:rPr>
              <a:t>E</a:t>
            </a:r>
            <a:r>
              <a:rPr lang="en">
                <a:latin typeface="Roboto"/>
                <a:ea typeface="Roboto"/>
                <a:cs typeface="Roboto"/>
                <a:sym typeface="Roboto"/>
              </a:rPr>
              <a:t>mployment </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
                <a:latin typeface="Roboto"/>
                <a:ea typeface="Roboto"/>
                <a:cs typeface="Roboto"/>
                <a:sym typeface="Roboto"/>
              </a:rPr>
              <a:t>Age</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
                <a:latin typeface="Roboto"/>
                <a:ea typeface="Roboto"/>
                <a:cs typeface="Roboto"/>
                <a:sym typeface="Roboto"/>
              </a:rPr>
              <a:t>Education</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
                <a:latin typeface="Roboto"/>
                <a:ea typeface="Roboto"/>
                <a:cs typeface="Roboto"/>
                <a:sym typeface="Roboto"/>
              </a:rPr>
              <a:t>Loan annuity</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
                <a:latin typeface="Roboto"/>
                <a:ea typeface="Roboto"/>
                <a:cs typeface="Roboto"/>
                <a:sym typeface="Roboto"/>
              </a:rPr>
              <a:t>Loan amount</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
                <a:latin typeface="Roboto"/>
                <a:ea typeface="Roboto"/>
                <a:cs typeface="Roboto"/>
                <a:sym typeface="Roboto"/>
              </a:rPr>
              <a:t>Loan fraud</a:t>
            </a:r>
            <a:endParaRPr>
              <a:latin typeface="Roboto"/>
              <a:ea typeface="Roboto"/>
              <a:cs typeface="Roboto"/>
              <a:sym typeface="Roboto"/>
            </a:endParaRPr>
          </a:p>
          <a:p>
            <a:pPr indent="0" lvl="0" marL="457200" rtl="0" algn="l">
              <a:spcBef>
                <a:spcPts val="0"/>
              </a:spcBef>
              <a:spcAft>
                <a:spcPts val="0"/>
              </a:spcAft>
              <a:buNone/>
            </a:pPr>
            <a:r>
              <a:t/>
            </a:r>
            <a:endParaRPr>
              <a:latin typeface="Roboto"/>
              <a:ea typeface="Roboto"/>
              <a:cs typeface="Roboto"/>
              <a:sym typeface="Roboto"/>
            </a:endParaRPr>
          </a:p>
          <a:p>
            <a:pPr indent="0" lvl="0" marL="457200" rtl="0" algn="l">
              <a:spcBef>
                <a:spcPts val="0"/>
              </a:spcBef>
              <a:spcAft>
                <a:spcPts val="0"/>
              </a:spcAft>
              <a:buNone/>
            </a:pPr>
            <a:r>
              <a:t/>
            </a:r>
            <a:endParaRPr>
              <a:latin typeface="Roboto"/>
              <a:ea typeface="Roboto"/>
              <a:cs typeface="Roboto"/>
              <a:sym typeface="Roboto"/>
            </a:endParaRPr>
          </a:p>
        </p:txBody>
      </p:sp>
      <p:cxnSp>
        <p:nvCxnSpPr>
          <p:cNvPr id="232" name="Google Shape;232;p28"/>
          <p:cNvCxnSpPr/>
          <p:nvPr/>
        </p:nvCxnSpPr>
        <p:spPr>
          <a:xfrm>
            <a:off x="373275" y="4371725"/>
            <a:ext cx="1837200" cy="6000"/>
          </a:xfrm>
          <a:prstGeom prst="straightConnector1">
            <a:avLst/>
          </a:prstGeom>
          <a:noFill/>
          <a:ln cap="flat" cmpd="sng" w="9525">
            <a:solidFill>
              <a:srgbClr val="FF0000"/>
            </a:solidFill>
            <a:prstDash val="solid"/>
            <a:round/>
            <a:headEnd len="med" w="med" type="none"/>
            <a:tailEnd len="med" w="med" type="none"/>
          </a:ln>
        </p:spPr>
      </p:cxnSp>
      <p:cxnSp>
        <p:nvCxnSpPr>
          <p:cNvPr id="233" name="Google Shape;233;p28"/>
          <p:cNvCxnSpPr/>
          <p:nvPr/>
        </p:nvCxnSpPr>
        <p:spPr>
          <a:xfrm>
            <a:off x="373275" y="4793725"/>
            <a:ext cx="1854600" cy="10500"/>
          </a:xfrm>
          <a:prstGeom prst="straightConnector1">
            <a:avLst/>
          </a:prstGeom>
          <a:noFill/>
          <a:ln cap="flat" cmpd="sng" w="9525">
            <a:solidFill>
              <a:srgbClr val="FF0000"/>
            </a:solidFill>
            <a:prstDash val="solid"/>
            <a:round/>
            <a:headEnd len="med" w="med" type="none"/>
            <a:tailEnd len="med" w="med" type="none"/>
          </a:ln>
        </p:spPr>
      </p:cxnSp>
      <p:cxnSp>
        <p:nvCxnSpPr>
          <p:cNvPr id="234" name="Google Shape;234;p28"/>
          <p:cNvCxnSpPr/>
          <p:nvPr/>
        </p:nvCxnSpPr>
        <p:spPr>
          <a:xfrm>
            <a:off x="183700" y="3687600"/>
            <a:ext cx="262500" cy="0"/>
          </a:xfrm>
          <a:prstGeom prst="straightConnector1">
            <a:avLst/>
          </a:prstGeom>
          <a:noFill/>
          <a:ln cap="flat" cmpd="sng" w="9525">
            <a:solidFill>
              <a:srgbClr val="FF0000"/>
            </a:solidFill>
            <a:prstDash val="solid"/>
            <a:round/>
            <a:headEnd len="med" w="med" type="none"/>
            <a:tailEnd len="med" w="med" type="triangle"/>
          </a:ln>
        </p:spPr>
      </p:cxnSp>
      <p:cxnSp>
        <p:nvCxnSpPr>
          <p:cNvPr id="235" name="Google Shape;235;p28"/>
          <p:cNvCxnSpPr/>
          <p:nvPr/>
        </p:nvCxnSpPr>
        <p:spPr>
          <a:xfrm>
            <a:off x="183700" y="3840000"/>
            <a:ext cx="262500" cy="0"/>
          </a:xfrm>
          <a:prstGeom prst="straightConnector1">
            <a:avLst/>
          </a:prstGeom>
          <a:noFill/>
          <a:ln cap="flat" cmpd="sng" w="9525">
            <a:solidFill>
              <a:srgbClr val="FF0000"/>
            </a:solidFill>
            <a:prstDash val="solid"/>
            <a:round/>
            <a:headEnd len="med" w="med" type="none"/>
            <a:tailEnd len="med" w="med" type="triangle"/>
          </a:ln>
        </p:spPr>
      </p:cxnSp>
      <p:cxnSp>
        <p:nvCxnSpPr>
          <p:cNvPr id="236" name="Google Shape;236;p28"/>
          <p:cNvCxnSpPr/>
          <p:nvPr/>
        </p:nvCxnSpPr>
        <p:spPr>
          <a:xfrm>
            <a:off x="183700" y="4444725"/>
            <a:ext cx="262500" cy="0"/>
          </a:xfrm>
          <a:prstGeom prst="straightConnector1">
            <a:avLst/>
          </a:prstGeom>
          <a:noFill/>
          <a:ln cap="flat" cmpd="sng" w="9525">
            <a:solidFill>
              <a:srgbClr val="FF0000"/>
            </a:solidFill>
            <a:prstDash val="solid"/>
            <a:round/>
            <a:headEnd len="med" w="med" type="none"/>
            <a:tailEnd len="med" w="med" type="triangle"/>
          </a:ln>
        </p:spPr>
      </p:cxnSp>
      <p:sp>
        <p:nvSpPr>
          <p:cNvPr id="237" name="Google Shape;237;p28"/>
          <p:cNvSpPr/>
          <p:nvPr/>
        </p:nvSpPr>
        <p:spPr>
          <a:xfrm>
            <a:off x="488175" y="3937650"/>
            <a:ext cx="1026000" cy="261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8" name="Google Shape;238;p28"/>
          <p:cNvCxnSpPr/>
          <p:nvPr/>
        </p:nvCxnSpPr>
        <p:spPr>
          <a:xfrm>
            <a:off x="183700" y="4572375"/>
            <a:ext cx="262500" cy="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42" name="Shape 242"/>
        <p:cNvGrpSpPr/>
        <p:nvPr/>
      </p:nvGrpSpPr>
      <p:grpSpPr>
        <a:xfrm>
          <a:off x="0" y="0"/>
          <a:ext cx="0" cy="0"/>
          <a:chOff x="0" y="0"/>
          <a:chExt cx="0" cy="0"/>
        </a:xfrm>
      </p:grpSpPr>
      <p:pic>
        <p:nvPicPr>
          <p:cNvPr id="243" name="Google Shape;243;p29"/>
          <p:cNvPicPr preferRelativeResize="0"/>
          <p:nvPr/>
        </p:nvPicPr>
        <p:blipFill>
          <a:blip r:embed="rId3">
            <a:alphaModFix/>
          </a:blip>
          <a:stretch>
            <a:fillRect/>
          </a:stretch>
        </p:blipFill>
        <p:spPr>
          <a:xfrm>
            <a:off x="0" y="8"/>
            <a:ext cx="9144001" cy="524033"/>
          </a:xfrm>
          <a:prstGeom prst="rect">
            <a:avLst/>
          </a:prstGeom>
          <a:noFill/>
          <a:ln>
            <a:noFill/>
          </a:ln>
        </p:spPr>
      </p:pic>
      <p:sp>
        <p:nvSpPr>
          <p:cNvPr id="244" name="Google Shape;244;p29"/>
          <p:cNvSpPr txBox="1"/>
          <p:nvPr/>
        </p:nvSpPr>
        <p:spPr>
          <a:xfrm>
            <a:off x="161150" y="524050"/>
            <a:ext cx="4101900" cy="11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Roboto"/>
                <a:ea typeface="Roboto"/>
                <a:cs typeface="Roboto"/>
                <a:sym typeface="Roboto"/>
              </a:rPr>
              <a:t>Conclusion</a:t>
            </a:r>
            <a:endParaRPr b="1" sz="3000">
              <a:latin typeface="Roboto"/>
              <a:ea typeface="Roboto"/>
              <a:cs typeface="Roboto"/>
              <a:sym typeface="Roboto"/>
            </a:endParaRPr>
          </a:p>
        </p:txBody>
      </p:sp>
      <p:sp>
        <p:nvSpPr>
          <p:cNvPr id="245" name="Google Shape;245;p29"/>
          <p:cNvSpPr txBox="1"/>
          <p:nvPr/>
        </p:nvSpPr>
        <p:spPr>
          <a:xfrm>
            <a:off x="274225" y="1335875"/>
            <a:ext cx="8124000" cy="1197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Roboto"/>
              <a:buChar char="●"/>
            </a:pPr>
            <a:r>
              <a:rPr lang="en" sz="1800">
                <a:latin typeface="Roboto"/>
                <a:ea typeface="Roboto"/>
                <a:cs typeface="Roboto"/>
                <a:sym typeface="Roboto"/>
              </a:rPr>
              <a:t>Logistic regression is the best model</a:t>
            </a:r>
            <a:endParaRPr sz="1800">
              <a:latin typeface="Roboto"/>
              <a:ea typeface="Roboto"/>
              <a:cs typeface="Roboto"/>
              <a:sym typeface="Roboto"/>
            </a:endParaRPr>
          </a:p>
          <a:p>
            <a:pPr indent="0" lvl="0" marL="457200" rtl="0" algn="l">
              <a:spcBef>
                <a:spcPts val="0"/>
              </a:spcBef>
              <a:spcAft>
                <a:spcPts val="0"/>
              </a:spcAft>
              <a:buNone/>
            </a:pPr>
            <a:r>
              <a:t/>
            </a:r>
            <a:endParaRPr sz="1800">
              <a:latin typeface="Roboto"/>
              <a:ea typeface="Roboto"/>
              <a:cs typeface="Roboto"/>
              <a:sym typeface="Roboto"/>
            </a:endParaRPr>
          </a:p>
          <a:p>
            <a:pPr indent="-342900" lvl="0" marL="457200" rtl="0" algn="l">
              <a:spcBef>
                <a:spcPts val="0"/>
              </a:spcBef>
              <a:spcAft>
                <a:spcPts val="0"/>
              </a:spcAft>
              <a:buSzPts val="1800"/>
              <a:buFont typeface="Roboto"/>
              <a:buChar char="●"/>
            </a:pPr>
            <a:r>
              <a:rPr lang="en" sz="1800">
                <a:latin typeface="Roboto"/>
                <a:ea typeface="Roboto"/>
                <a:cs typeface="Roboto"/>
                <a:sym typeface="Roboto"/>
              </a:rPr>
              <a:t>Features such as employment,  age, income, loan amount applied, loan fraud are important when</a:t>
            </a:r>
            <a:r>
              <a:rPr lang="en" sz="1800">
                <a:latin typeface="Roboto"/>
                <a:ea typeface="Roboto"/>
                <a:cs typeface="Roboto"/>
                <a:sym typeface="Roboto"/>
              </a:rPr>
              <a:t> making prediction of whether an applicant will repay the loan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sp>
        <p:nvSpPr>
          <p:cNvPr id="246" name="Google Shape;246;p29"/>
          <p:cNvSpPr txBox="1"/>
          <p:nvPr/>
        </p:nvSpPr>
        <p:spPr>
          <a:xfrm>
            <a:off x="274225" y="2968250"/>
            <a:ext cx="4101900" cy="52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Further improvements</a:t>
            </a:r>
            <a:endParaRPr b="1" sz="1800">
              <a:latin typeface="Roboto"/>
              <a:ea typeface="Roboto"/>
              <a:cs typeface="Roboto"/>
              <a:sym typeface="Roboto"/>
            </a:endParaRPr>
          </a:p>
        </p:txBody>
      </p:sp>
      <p:sp>
        <p:nvSpPr>
          <p:cNvPr id="247" name="Google Shape;247;p29"/>
          <p:cNvSpPr txBox="1"/>
          <p:nvPr/>
        </p:nvSpPr>
        <p:spPr>
          <a:xfrm>
            <a:off x="296575" y="3527150"/>
            <a:ext cx="8101800" cy="1160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Roboto"/>
              <a:buChar char="●"/>
            </a:pPr>
            <a:r>
              <a:rPr lang="en" sz="1800">
                <a:latin typeface="Roboto"/>
                <a:ea typeface="Roboto"/>
                <a:cs typeface="Roboto"/>
                <a:sym typeface="Roboto"/>
              </a:rPr>
              <a:t>More precise variable selection before training the model may improve the result</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1" name="Shape 251"/>
        <p:cNvGrpSpPr/>
        <p:nvPr/>
      </p:nvGrpSpPr>
      <p:grpSpPr>
        <a:xfrm>
          <a:off x="0" y="0"/>
          <a:ext cx="0" cy="0"/>
          <a:chOff x="0" y="0"/>
          <a:chExt cx="0" cy="0"/>
        </a:xfrm>
      </p:grpSpPr>
      <p:pic>
        <p:nvPicPr>
          <p:cNvPr id="252" name="Google Shape;252;p30"/>
          <p:cNvPicPr preferRelativeResize="0"/>
          <p:nvPr/>
        </p:nvPicPr>
        <p:blipFill>
          <a:blip r:embed="rId3">
            <a:alphaModFix/>
          </a:blip>
          <a:stretch>
            <a:fillRect/>
          </a:stretch>
        </p:blipFill>
        <p:spPr>
          <a:xfrm>
            <a:off x="0" y="8"/>
            <a:ext cx="9144001" cy="524033"/>
          </a:xfrm>
          <a:prstGeom prst="rect">
            <a:avLst/>
          </a:prstGeom>
          <a:noFill/>
          <a:ln>
            <a:noFill/>
          </a:ln>
        </p:spPr>
      </p:pic>
      <p:sp>
        <p:nvSpPr>
          <p:cNvPr id="253" name="Google Shape;253;p30"/>
          <p:cNvSpPr txBox="1"/>
          <p:nvPr/>
        </p:nvSpPr>
        <p:spPr>
          <a:xfrm>
            <a:off x="2902350" y="1581300"/>
            <a:ext cx="3339300" cy="198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latin typeface="Roboto"/>
                <a:ea typeface="Roboto"/>
                <a:cs typeface="Roboto"/>
                <a:sym typeface="Roboto"/>
              </a:rPr>
              <a:t>Thank you</a:t>
            </a:r>
            <a:r>
              <a:rPr lang="en" sz="3000">
                <a:latin typeface="Roboto"/>
                <a:ea typeface="Roboto"/>
                <a:cs typeface="Roboto"/>
                <a:sym typeface="Roboto"/>
              </a:rPr>
              <a:t> </a:t>
            </a:r>
            <a:endParaRPr sz="3000">
              <a:latin typeface="Roboto"/>
              <a:ea typeface="Roboto"/>
              <a:cs typeface="Roboto"/>
              <a:sym typeface="Roboto"/>
            </a:endParaRPr>
          </a:p>
          <a:p>
            <a:pPr indent="0" lvl="0" marL="0" rtl="0" algn="ctr">
              <a:spcBef>
                <a:spcPts val="0"/>
              </a:spcBef>
              <a:spcAft>
                <a:spcPts val="0"/>
              </a:spcAft>
              <a:buNone/>
            </a:pPr>
            <a:r>
              <a:t/>
            </a:r>
            <a:endParaRPr sz="3000">
              <a:latin typeface="Roboto"/>
              <a:ea typeface="Roboto"/>
              <a:cs typeface="Roboto"/>
              <a:sym typeface="Roboto"/>
            </a:endParaRPr>
          </a:p>
          <a:p>
            <a:pPr indent="0" lvl="0" marL="0" rtl="0" algn="ctr">
              <a:spcBef>
                <a:spcPts val="0"/>
              </a:spcBef>
              <a:spcAft>
                <a:spcPts val="0"/>
              </a:spcAft>
              <a:buNone/>
            </a:pPr>
            <a:r>
              <a:rPr lang="en" sz="3000">
                <a:latin typeface="Roboto"/>
                <a:ea typeface="Roboto"/>
                <a:cs typeface="Roboto"/>
                <a:sym typeface="Roboto"/>
              </a:rPr>
              <a:t>Question?</a:t>
            </a:r>
            <a:endParaRPr sz="30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